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</p:sldIdLst>
  <p:notesMasterIdLst>
    <p:notesMasterId r:id="rId3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notesMaster" Target="notesMasters/notesMaster1.xml"/><Relationship Id="rId31" Type="http://schemas.openxmlformats.org/officeDocument/2006/relationships/presProps" Target="presProps.xml"/><Relationship Id="rId32" Type="http://schemas.openxmlformats.org/officeDocument/2006/relationships/viewProps" Target="viewProps.xml"/><Relationship Id="rId33" Type="http://schemas.openxmlformats.org/officeDocument/2006/relationships/theme" Target="theme/theme1.xml"/><Relationship Id="rId3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C2FF"/>
          </a:solidFill>
          <a:ln w="12700">
            <a:solidFill>
              <a:srgbClr val="00C2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132320" y="-731520"/>
            <a:ext cx="3200400" cy="3200400"/>
          </a:xfrm>
          <a:prstGeom prst="ellipse">
            <a:avLst/>
          </a:prstGeom>
          <a:solidFill>
            <a:srgbClr val="00C2FF">
              <a:alpha val="12000"/>
            </a:srgbClr>
          </a:solidFill>
          <a:ln w="12700">
            <a:solidFill>
              <a:srgbClr val="00C2FF">
                <a:alpha val="12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589520" y="-274320"/>
            <a:ext cx="2286000" cy="2286000"/>
          </a:xfrm>
          <a:prstGeom prst="ellipse">
            <a:avLst/>
          </a:prstGeom>
          <a:solidFill>
            <a:srgbClr val="00C2FF">
              <a:alpha val="20000"/>
            </a:srgbClr>
          </a:solidFill>
          <a:ln w="12700">
            <a:solidFill>
              <a:srgbClr val="00C2FF">
                <a:alpha val="2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548640"/>
            <a:ext cx="2743200" cy="347472"/>
          </a:xfrm>
          <a:prstGeom prst="roundRect">
            <a:avLst>
              <a:gd name="adj" fmla="val 13158"/>
            </a:avLst>
          </a:prstGeom>
          <a:solidFill>
            <a:srgbClr val="00C2FF"/>
          </a:solidFill>
          <a:ln w="12700">
            <a:solidFill>
              <a:srgbClr val="00C2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54864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A1628"/>
                </a:solidFill>
              </a:rPr>
              <a:t>FDE ACADEMY  ·  BATCH 1  ·  05 MAY 2026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1051560"/>
            <a:ext cx="77724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Engineering</a:t>
            </a:r>
            <a:endParaRPr lang="en-US" sz="4400" dirty="0"/>
          </a:p>
          <a:p>
            <a:pPr indent="0" marL="0">
              <a:buNone/>
            </a:pPr>
            <a:r>
              <a:rPr lang="en-US" sz="4400" b="1" dirty="0">
                <a:solidFill>
                  <a:srgbClr val="00C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Patterns &amp; Testing</a:t>
            </a:r>
            <a:endParaRPr lang="en-US" sz="4400" dirty="0"/>
          </a:p>
        </p:txBody>
      </p:sp>
      <p:sp>
        <p:nvSpPr>
          <p:cNvPr id="8" name="Text 6"/>
          <p:cNvSpPr/>
          <p:nvPr/>
        </p:nvSpPr>
        <p:spPr>
          <a:xfrm>
            <a:off x="457200" y="2971800"/>
            <a:ext cx="7315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0C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Zero-Shot to Production-Grade Harness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457200" y="3456432"/>
            <a:ext cx="3657600" cy="22860"/>
          </a:xfrm>
          <a:prstGeom prst="rect">
            <a:avLst/>
          </a:prstGeom>
          <a:solidFill>
            <a:srgbClr val="00C2FF"/>
          </a:solidFill>
          <a:ln w="12700">
            <a:solidFill>
              <a:srgbClr val="00C2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" y="3703320"/>
            <a:ext cx="2011680" cy="685800"/>
          </a:xfrm>
          <a:prstGeom prst="rect">
            <a:avLst/>
          </a:prstGeom>
          <a:solidFill>
            <a:srgbClr val="0F2040"/>
          </a:solidFill>
          <a:ln w="6350">
            <a:solidFill>
              <a:srgbClr val="0EA5E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3749040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C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55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57200" y="411480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C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606040" y="3703320"/>
            <a:ext cx="2011680" cy="685800"/>
          </a:xfrm>
          <a:prstGeom prst="rect">
            <a:avLst/>
          </a:prstGeom>
          <a:solidFill>
            <a:srgbClr val="0F2040"/>
          </a:solidFill>
          <a:ln w="6350">
            <a:solidFill>
              <a:srgbClr val="0EA5E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606040" y="3749040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C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7.4 yrs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2606040" y="411480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C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Exp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754880" y="3703320"/>
            <a:ext cx="2011680" cy="685800"/>
          </a:xfrm>
          <a:prstGeom prst="rect">
            <a:avLst/>
          </a:prstGeom>
          <a:solidFill>
            <a:srgbClr val="0F2040"/>
          </a:solidFill>
          <a:ln w="6350">
            <a:solidFill>
              <a:srgbClr val="0EA5E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54880" y="3749040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C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₹24.7L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4754880" y="411480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C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CTC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903720" y="3703320"/>
            <a:ext cx="2011680" cy="685800"/>
          </a:xfrm>
          <a:prstGeom prst="rect">
            <a:avLst/>
          </a:prstGeom>
          <a:solidFill>
            <a:srgbClr val="0F2040"/>
          </a:solidFill>
          <a:ln w="6350">
            <a:solidFill>
              <a:srgbClr val="0EA5E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903720" y="3749040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C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67%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6903720" y="411480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C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SWE + AI/DS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57200" y="452628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BA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Sumit Ranjan  ·  Head of Responsible AI  |  OWASP Agentic AI  |  BITS Pilani Dubai  |  Apress/Packt Author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20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Raise your hand if...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40080" y="886968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7BA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(Be honest. You're among 55 senior engineers &amp; leaders. This room has 7.4 years of avg experience.)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640080" y="1280160"/>
            <a:ext cx="3931920" cy="1097280"/>
          </a:xfrm>
          <a:prstGeom prst="roundRect">
            <a:avLst>
              <a:gd name="adj" fmla="val 8333"/>
            </a:avLst>
          </a:prstGeom>
          <a:solidFill>
            <a:srgbClr val="1A2E4A"/>
          </a:solidFill>
          <a:ln w="19050">
            <a:solidFill>
              <a:srgbClr val="EF444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49808" y="1389888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😤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1508760" y="1389888"/>
            <a:ext cx="2926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asked an LLM for code and it hallucinated a library function — confidently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846320" y="1280160"/>
            <a:ext cx="3931920" cy="1097280"/>
          </a:xfrm>
          <a:prstGeom prst="roundRect">
            <a:avLst>
              <a:gd name="adj" fmla="val 8333"/>
            </a:avLst>
          </a:prstGeom>
          <a:solidFill>
            <a:srgbClr val="1A2E4A"/>
          </a:solidFill>
          <a:ln w="19050">
            <a:solidFill>
              <a:srgbClr val="F9731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956048" y="1389888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🔄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5715000" y="1389888"/>
            <a:ext cx="2926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shipped a prompt to staging and it broke two weeks later without any code change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40080" y="2514600"/>
            <a:ext cx="3931920" cy="1097280"/>
          </a:xfrm>
          <a:prstGeom prst="roundRect">
            <a:avLst>
              <a:gd name="adj" fmla="val 8333"/>
            </a:avLst>
          </a:prstGeom>
          <a:solidFill>
            <a:srgbClr val="1A2E4A"/>
          </a:solidFill>
          <a:ln w="19050">
            <a:solidFill>
              <a:srgbClr val="A855F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49808" y="2624328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😵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1508760" y="2624328"/>
            <a:ext cx="2926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junior engineer on your team built an AI feature that worked in demos but failed in prod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4846320" y="2514600"/>
            <a:ext cx="3931920" cy="1097280"/>
          </a:xfrm>
          <a:prstGeom prst="roundRect">
            <a:avLst>
              <a:gd name="adj" fmla="val 8333"/>
            </a:avLst>
          </a:prstGeom>
          <a:solidFill>
            <a:srgbClr val="1A2E4A"/>
          </a:solidFill>
          <a:ln w="19050">
            <a:solidFill>
              <a:srgbClr val="00C2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956048" y="2624328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💸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5715000" y="2624328"/>
            <a:ext cx="2926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have no idea if your current prompts are even close to optimal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40080" y="3840480"/>
            <a:ext cx="7863840" cy="475488"/>
          </a:xfrm>
          <a:prstGeom prst="rect">
            <a:avLst/>
          </a:prstGeom>
          <a:solidFill>
            <a:srgbClr val="00C2FF">
              <a:alpha val="85000"/>
            </a:srgbClr>
          </a:solidFill>
          <a:ln w="12700">
            <a:solidFill>
              <a:srgbClr val="00C2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0080" y="3840480"/>
            <a:ext cx="7863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of this is a prompting problem. And today — we fix it systematically.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Journey — 05 May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74320" y="868680"/>
            <a:ext cx="1600200" cy="38862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868680"/>
            <a:ext cx="1600200" cy="457200"/>
          </a:xfrm>
          <a:prstGeom prst="rect">
            <a:avLst/>
          </a:prstGeom>
          <a:solidFill>
            <a:srgbClr val="00C2FF"/>
          </a:solidFill>
          <a:ln w="12700">
            <a:solidFill>
              <a:srgbClr val="00C2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868680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274320" y="141732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C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min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74320" y="1783080"/>
            <a:ext cx="1600200" cy="5943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Hook + 3 Eras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274320" y="2377440"/>
            <a:ext cx="1600200" cy="14630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2026 is different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011680" y="868680"/>
            <a:ext cx="1600200" cy="38862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011680" y="868680"/>
            <a:ext cx="1600200" cy="457200"/>
          </a:xfrm>
          <a:prstGeom prst="rect">
            <a:avLst/>
          </a:prstGeom>
          <a:solidFill>
            <a:srgbClr val="7B2FBE"/>
          </a:solidFill>
          <a:ln w="12700">
            <a:solidFill>
              <a:srgbClr val="7B2FB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011680" y="868680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2011680" y="141732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7B2F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55 min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011680" y="1783080"/>
            <a:ext cx="1600200" cy="5943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LLMs + Karpathy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2011680" y="2377440"/>
            <a:ext cx="1600200" cy="14630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 model + 7 primitives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194560" y="4114800"/>
            <a:ext cx="1234440" cy="320040"/>
          </a:xfrm>
          <a:prstGeom prst="roundRect">
            <a:avLst>
              <a:gd name="adj" fmla="val 14286"/>
            </a:avLst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194560" y="4114800"/>
            <a:ext cx="1234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🔴 LIVE DEMO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3749040" y="868680"/>
            <a:ext cx="1600200" cy="38862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749040" y="868680"/>
            <a:ext cx="1600200" cy="45720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749040" y="868680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3749040" y="141732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 min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749040" y="1783080"/>
            <a:ext cx="1600200" cy="5943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Patterns Deep Dive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3749040" y="2377440"/>
            <a:ext cx="1600200" cy="14630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prompts + Context + Harness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931920" y="4114800"/>
            <a:ext cx="1234440" cy="320040"/>
          </a:xfrm>
          <a:prstGeom prst="roundRect">
            <a:avLst>
              <a:gd name="adj" fmla="val 14286"/>
            </a:avLst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931920" y="4114800"/>
            <a:ext cx="1234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🔴 LIVE DEMO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5486400" y="868680"/>
            <a:ext cx="1600200" cy="38862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486400" y="868680"/>
            <a:ext cx="1600200" cy="45720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486400" y="868680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5486400" y="141732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min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5486400" y="1783080"/>
            <a:ext cx="1600200" cy="5943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Methodology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5486400" y="2377440"/>
            <a:ext cx="1600200" cy="14630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Verify, score, iterate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7223760" y="868680"/>
            <a:ext cx="1600200" cy="38862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7223760" y="868680"/>
            <a:ext cx="1600200" cy="45720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223760" y="868680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800" dirty="0"/>
          </a:p>
        </p:txBody>
      </p:sp>
      <p:sp>
        <p:nvSpPr>
          <p:cNvPr id="35" name="Text 33"/>
          <p:cNvSpPr/>
          <p:nvPr/>
        </p:nvSpPr>
        <p:spPr>
          <a:xfrm>
            <a:off x="7223760" y="141732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min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7223760" y="1783080"/>
            <a:ext cx="1600200" cy="5943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OpenRouter Live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7223760" y="2377440"/>
            <a:ext cx="1600200" cy="14630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models · same prompt · compare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7406640" y="4114800"/>
            <a:ext cx="1234440" cy="320040"/>
          </a:xfrm>
          <a:prstGeom prst="roundRect">
            <a:avLst>
              <a:gd name="adj" fmla="val 14286"/>
            </a:avLst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406640" y="4114800"/>
            <a:ext cx="1234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🔴 LIVE DEMO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86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3 Eras of Working with AI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2651760" cy="3794760"/>
          </a:xfrm>
          <a:prstGeom prst="rect">
            <a:avLst/>
          </a:prstGeom>
          <a:solidFill>
            <a:srgbClr val="0F2040"/>
          </a:solidFill>
          <a:ln w="19050">
            <a:solidFill>
              <a:srgbClr val="7B2FB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914400"/>
            <a:ext cx="2651760" cy="502920"/>
          </a:xfrm>
          <a:prstGeom prst="rect">
            <a:avLst/>
          </a:prstGeom>
          <a:solidFill>
            <a:srgbClr val="7B2FBE"/>
          </a:solidFill>
          <a:ln w="12700">
            <a:solidFill>
              <a:srgbClr val="7B2FB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91440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Hype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150876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📝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457200" y="210312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7B2F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2022–2024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242316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Era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594360" y="2880360"/>
            <a:ext cx="237744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A0C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Magic words &amp; spell-finding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0C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'Act as a senior X, think step by step'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0C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 listings with 6-figure salaries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0C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Blog posts of 100 prompt tips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91840" y="914400"/>
            <a:ext cx="2651760" cy="3794760"/>
          </a:xfrm>
          <a:prstGeom prst="rect">
            <a:avLst/>
          </a:prstGeom>
          <a:solidFill>
            <a:srgbClr val="0F2040"/>
          </a:solidFill>
          <a:ln w="19050">
            <a:solidFill>
              <a:srgbClr val="00C2F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291840" y="914400"/>
            <a:ext cx="2651760" cy="502920"/>
          </a:xfrm>
          <a:prstGeom prst="rect">
            <a:avLst/>
          </a:prstGeom>
          <a:solidFill>
            <a:srgbClr val="00C2FF"/>
          </a:solidFill>
          <a:ln w="12700">
            <a:solidFill>
              <a:srgbClr val="00C2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91840" y="91440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Shift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291840" y="150876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🧠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3291840" y="210312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C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 2025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291840" y="242316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Era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3429000" y="2880360"/>
            <a:ext cx="237744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A0C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Karpathy renamed it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0C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Shopify's CEO amplified it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0C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Gartner formalized it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0C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'Context is the new prompt'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126480" y="914400"/>
            <a:ext cx="2651760" cy="3794760"/>
          </a:xfrm>
          <a:prstGeom prst="rect">
            <a:avLst/>
          </a:prstGeom>
          <a:solidFill>
            <a:srgbClr val="0F2040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126480" y="914400"/>
            <a:ext cx="2651760" cy="50292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126480" y="91440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 Now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126480" y="150876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⚙️</a:t>
            </a:r>
            <a:endParaRPr lang="en-US" sz="2600" dirty="0"/>
          </a:p>
        </p:txBody>
      </p:sp>
      <p:sp>
        <p:nvSpPr>
          <p:cNvPr id="21" name="Text 19"/>
          <p:cNvSpPr/>
          <p:nvPr/>
        </p:nvSpPr>
        <p:spPr>
          <a:xfrm>
            <a:off x="6126480" y="210312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→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126480" y="242316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Harness Era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6263640" y="2880360"/>
            <a:ext cx="237744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A0C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= Model + Harness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0C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Addy Osmani's framing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0C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you're not the model,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0C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ARE the harness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3200400" y="260604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</a:rPr>
              <a:t>→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6035040" y="260604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</a:rPr>
              <a:t>→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457200" y="48006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7BA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"The model is not the system. The model is one input into the system."  — Sumit Ranjan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a Large Language Model?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822960"/>
            <a:ext cx="3931920" cy="3886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822960"/>
            <a:ext cx="91440" cy="3886200"/>
          </a:xfrm>
          <a:prstGeom prst="rect">
            <a:avLst/>
          </a:prstGeom>
          <a:solidFill>
            <a:srgbClr val="00C2FF"/>
          </a:solidFill>
          <a:ln w="12700">
            <a:solidFill>
              <a:srgbClr val="00C2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9144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C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Simple Truth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94360" y="1325880"/>
            <a:ext cx="35661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giant autocomplete engine
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Trained on most of the text humanity ever wrote. Predicts the next most likely token given everything before it.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94360" y="274320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does NOT: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94360" y="3035808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</a:t>
            </a:r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 facts like a database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94360" y="3310128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</a:t>
            </a:r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 like a human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94360" y="3584448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</a:t>
            </a:r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Remember your last chat (by default)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663440" y="822960"/>
            <a:ext cx="4114800" cy="3886200"/>
          </a:xfrm>
          <a:prstGeom prst="rect">
            <a:avLst/>
          </a:prstGeom>
          <a:solidFill>
            <a:srgbClr val="0D1117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46320" y="9601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C2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How it actually works: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846320" y="1371600"/>
            <a:ext cx="3657600" cy="365760"/>
          </a:xfrm>
          <a:prstGeom prst="roundRect">
            <a:avLst>
              <a:gd name="adj" fmla="val 12500"/>
            </a:avLst>
          </a:prstGeom>
          <a:solidFill>
            <a:srgbClr val="1A3A5C"/>
          </a:solidFill>
          <a:ln w="10160">
            <a:solidFill>
              <a:srgbClr val="00C2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46320" y="1371600"/>
            <a:ext cx="3657600" cy="36576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2CC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Input: "The sun rises in the ___"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846320" y="1828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↓  model assigns probabilities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846320" y="2176272"/>
            <a:ext cx="2880360" cy="256032"/>
          </a:xfrm>
          <a:prstGeom prst="rect">
            <a:avLst/>
          </a:prstGeom>
          <a:solidFill>
            <a:srgbClr val="10B981">
              <a:alpha val="65000"/>
            </a:srgbClr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46320" y="2176272"/>
            <a:ext cx="3657600" cy="25603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morning  0.42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846320" y="2523744"/>
            <a:ext cx="1975104" cy="256032"/>
          </a:xfrm>
          <a:prstGeom prst="rect">
            <a:avLst/>
          </a:prstGeom>
          <a:solidFill>
            <a:srgbClr val="00C2FF">
              <a:alpha val="65000"/>
            </a:srgbClr>
          </a:solidFill>
          <a:ln w="12700">
            <a:solidFill>
              <a:srgbClr val="00C2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46320" y="2523744"/>
            <a:ext cx="3657600" cy="25603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east  0.28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846320" y="2871216"/>
            <a:ext cx="1069848" cy="256032"/>
          </a:xfrm>
          <a:prstGeom prst="rect">
            <a:avLst/>
          </a:prstGeom>
          <a:solidFill>
            <a:srgbClr val="A855F7">
              <a:alpha val="65000"/>
            </a:srgbClr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46320" y="2871216"/>
            <a:ext cx="3657600" cy="25603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sky  0.15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846320" y="3218688"/>
            <a:ext cx="699516" cy="256032"/>
          </a:xfrm>
          <a:prstGeom prst="rect">
            <a:avLst/>
          </a:prstGeom>
          <a:solidFill>
            <a:srgbClr val="F97316">
              <a:alpha val="65000"/>
            </a:srgbClr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846320" y="3218688"/>
            <a:ext cx="3657600" cy="25603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distance  0.10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846320" y="3566160"/>
            <a:ext cx="329184" cy="256032"/>
          </a:xfrm>
          <a:prstGeom prst="rect">
            <a:avLst/>
          </a:prstGeom>
          <a:solidFill>
            <a:srgbClr val="64748B">
              <a:alpha val="65000"/>
            </a:srgbClr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46320" y="3566160"/>
            <a:ext cx="3657600" cy="25603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other...  0.05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846320" y="4069080"/>
            <a:ext cx="3657600" cy="365760"/>
          </a:xfrm>
          <a:prstGeom prst="roundRect">
            <a:avLst>
              <a:gd name="adj" fmla="val 12500"/>
            </a:avLst>
          </a:prstGeom>
          <a:solidFill>
            <a:srgbClr val="1A3A1A"/>
          </a:solidFill>
          <a:ln w="10160">
            <a:solidFill>
              <a:srgbClr val="10B98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846320" y="4069080"/>
            <a:ext cx="3657600" cy="36576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Output: "The sun rises in the morning"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182880"/>
            <a:ext cx="2011680" cy="365760"/>
          </a:xfrm>
          <a:prstGeom prst="roundRect">
            <a:avLst>
              <a:gd name="adj" fmla="val 15000"/>
            </a:avLst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0" y="18288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KARPATHY PRINCIPLE #0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48640" y="182880"/>
            <a:ext cx="6217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Intern Mental Model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868680"/>
            <a:ext cx="8046720" cy="777240"/>
          </a:xfrm>
          <a:prstGeom prst="rect">
            <a:avLst/>
          </a:prstGeom>
          <a:solidFill>
            <a:srgbClr val="0F2040"/>
          </a:solidFill>
          <a:ln w="19050">
            <a:solidFill>
              <a:srgbClr val="F9731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868680"/>
            <a:ext cx="7680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LLM is a </a:t>
            </a:r>
            <a:pPr indent="0" marL="0">
              <a:buNone/>
            </a:pPr>
            <a:r>
              <a:rPr lang="en-US" sz="17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brilliant intern </a:t>
            </a:r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reads fast, guesses confidently, and </a:t>
            </a:r>
            <a:pPr indent="0" marL="0">
              <a:buNone/>
            </a:pPr>
            <a:r>
              <a:rPr lang="en-US" sz="17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admits ignorance.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548640" y="1783080"/>
            <a:ext cx="4023360" cy="2468880"/>
          </a:xfrm>
          <a:prstGeom prst="rect">
            <a:avLst/>
          </a:prstGeom>
          <a:solidFill>
            <a:srgbClr val="0F2040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1783080"/>
            <a:ext cx="4023360" cy="41148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1783080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Interns do WELL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31520" y="2267712"/>
            <a:ext cx="3657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250" dirty="0">
                <a:solidFill>
                  <a:srgbClr val="A0C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Execute tasks fast when scoped clearly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731520" y="2724912"/>
            <a:ext cx="3657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250" dirty="0">
                <a:solidFill>
                  <a:srgbClr val="A0C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 explicit instructions precisely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731520" y="3182112"/>
            <a:ext cx="3657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250" dirty="0">
                <a:solidFill>
                  <a:srgbClr val="A0C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 from examples in the same session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731520" y="3639312"/>
            <a:ext cx="3657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250" dirty="0">
                <a:solidFill>
                  <a:srgbClr val="A0C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Spot patterns you give them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4754880" y="1783080"/>
            <a:ext cx="4023360" cy="2468880"/>
          </a:xfrm>
          <a:prstGeom prst="rect">
            <a:avLst/>
          </a:prstGeom>
          <a:solidFill>
            <a:srgbClr val="0F2040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754880" y="1783080"/>
            <a:ext cx="4023360" cy="41148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54880" y="1783080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Interns do BADLY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937760" y="2267712"/>
            <a:ext cx="3657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</a:t>
            </a:r>
            <a:pPr indent="0" marL="0">
              <a:buNone/>
            </a:pPr>
            <a:r>
              <a:rPr lang="en-US" sz="1250" dirty="0">
                <a:solidFill>
                  <a:srgbClr val="A0C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Fill gaps with confident guesses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4937760" y="2724912"/>
            <a:ext cx="3657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</a:t>
            </a:r>
            <a:pPr indent="0" marL="0">
              <a:buNone/>
            </a:pPr>
            <a:r>
              <a:rPr lang="en-US" sz="1250" dirty="0">
                <a:solidFill>
                  <a:srgbClr val="A0C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Rarely say 'I don't know'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4937760" y="3182112"/>
            <a:ext cx="3657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</a:t>
            </a:r>
            <a:pPr indent="0" marL="0">
              <a:buNone/>
            </a:pPr>
            <a:r>
              <a:rPr lang="en-US" sz="1250" dirty="0">
                <a:solidFill>
                  <a:srgbClr val="A0C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 sources when uncertain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4937760" y="3639312"/>
            <a:ext cx="3657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</a:t>
            </a:r>
            <a:pPr indent="0" marL="0">
              <a:buNone/>
            </a:pPr>
            <a:r>
              <a:rPr lang="en-US" sz="1250" dirty="0">
                <a:solidFill>
                  <a:srgbClr val="A0C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 outside of tight scope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548640" y="4343400"/>
            <a:ext cx="8046720" cy="548640"/>
          </a:xfrm>
          <a:prstGeom prst="rect">
            <a:avLst/>
          </a:prstGeom>
          <a:solidFill>
            <a:srgbClr val="F97316">
              <a:alpha val="85000"/>
            </a:srgbClr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48640" y="434340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job is the same as managing an intern:  </a:t>
            </a:r>
            <a:pPr algn="ctr" indent="0" marL="0">
              <a:buNone/>
            </a:pPr>
            <a:r>
              <a:rPr lang="en-US" sz="1400" b="1" dirty="0">
                <a:solidFill>
                  <a:srgbClr val="00C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Constrain </a:t>
            </a:r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pPr algn="ctr" indent="0" marL="0">
              <a:buNone/>
            </a:pPr>
            <a:r>
              <a:rPr lang="en-US" sz="14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 </a:t>
            </a:r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pPr algn="ctr" indent="0" marL="0">
              <a:buNone/>
            </a:pPr>
            <a:r>
              <a:rPr lang="en-US" sz="14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</a:t>
            </a:r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Never assume correctness.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Critical: Hallucination vs Confabulation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822960"/>
            <a:ext cx="4023360" cy="3886200"/>
          </a:xfrm>
          <a:prstGeom prst="rect">
            <a:avLst/>
          </a:prstGeom>
          <a:solidFill>
            <a:srgbClr val="FFFFFF"/>
          </a:solidFill>
          <a:ln w="19050">
            <a:solidFill>
              <a:srgbClr val="EF444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822960"/>
            <a:ext cx="4023360" cy="45720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82296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Hallucination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548640" y="1371600"/>
            <a:ext cx="37490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generates incorrect or fabricated information that looks believable. Presents it confidently — even when wrong.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48640" y="2331720"/>
            <a:ext cx="3657600" cy="1737360"/>
          </a:xfrm>
          <a:prstGeom prst="rect">
            <a:avLst/>
          </a:prstGeom>
          <a:solidFill>
            <a:srgbClr val="FFF5F5"/>
          </a:solidFill>
          <a:ln w="6350">
            <a:solidFill>
              <a:srgbClr val="EF444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242316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PROMPT: 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85800" y="2670048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"Who won the Nobel Prize in Physics 2025 for quantum teleportation?"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685800" y="3218688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MODEL: </a:t>
            </a:r>
            <a:pPr indent="0" marL="0">
              <a:buNone/>
            </a:pPr>
            <a:r>
              <a:rPr lang="en-US" sz="1050" i="1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Dr. John Smith from MIT won for quantum teleportation research.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548640" y="4160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No such prize exists. Fabricated.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754880" y="822960"/>
            <a:ext cx="4023360" cy="3886200"/>
          </a:xfrm>
          <a:prstGeom prst="rect">
            <a:avLst/>
          </a:prstGeom>
          <a:solidFill>
            <a:srgbClr val="FFFFFF"/>
          </a:solidFill>
          <a:ln w="19050">
            <a:solidFill>
              <a:srgbClr val="F9731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754880" y="822960"/>
            <a:ext cx="4023360" cy="45720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54880" y="82296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Confabulation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4937760" y="1371600"/>
            <a:ext cx="37490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fills missing information with plausible but incorrect details — using patterns from training data to complete gaps.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4937760" y="2331720"/>
            <a:ext cx="3657600" cy="1737360"/>
          </a:xfrm>
          <a:prstGeom prst="rect">
            <a:avLst/>
          </a:prstGeom>
          <a:solidFill>
            <a:srgbClr val="FFFAF5"/>
          </a:solidFill>
          <a:ln w="6350">
            <a:solidFill>
              <a:srgbClr val="F9731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74920" y="242316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973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PROMPT: 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074920" y="2670048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"Summarize the paper 'Deep Neural Ocean Models' from Nature 2023."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5074920" y="3218688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973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MODEL: </a:t>
            </a:r>
            <a:pPr indent="0" marL="0">
              <a:buNone/>
            </a:pPr>
            <a:r>
              <a:rPr lang="en-US" sz="1050" i="1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paper describes methods, experiments, and conclusions...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4937760" y="4160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Paper doesn't exist. Believable story constructed.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182880"/>
            <a:ext cx="2011680" cy="365760"/>
          </a:xfrm>
          <a:prstGeom prst="roundRect">
            <a:avLst>
              <a:gd name="adj" fmla="val 15000"/>
            </a:avLst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0" y="18288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KARPATHY PRINCIPLE #8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57200" y="182880"/>
            <a:ext cx="6217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Assume the Model Is Wrong by Default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457200" y="868680"/>
            <a:ext cx="8046720" cy="457200"/>
          </a:xfrm>
          <a:prstGeom prst="rect">
            <a:avLst/>
          </a:prstGeom>
          <a:solidFill>
            <a:srgbClr val="1A1A2A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86868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0C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"Never assume correctness. Always verify.  </a:t>
            </a:r>
            <a:pPr indent="0" marL="0">
              <a:buNone/>
            </a:pPr>
            <a:r>
              <a:rPr lang="en-US" sz="14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 is earned, not given.</a:t>
            </a:r>
            <a:pPr indent="0" marL="0">
              <a:buNone/>
            </a:pPr>
            <a:r>
              <a:rPr lang="en-US" sz="1400" dirty="0">
                <a:solidFill>
                  <a:srgbClr val="A0C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1463040"/>
            <a:ext cx="4023360" cy="1417320"/>
          </a:xfrm>
          <a:prstGeom prst="rect">
            <a:avLst/>
          </a:prstGeom>
          <a:solidFill>
            <a:srgbClr val="0D1117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463040"/>
            <a:ext cx="54864" cy="141732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1554480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Hallucinated APIs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40080" y="1883664"/>
            <a:ext cx="3657600" cy="320040"/>
          </a:xfrm>
          <a:prstGeom prst="rect">
            <a:avLst/>
          </a:prstGeom>
          <a:solidFill>
            <a:srgbClr val="1A1A1A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85800" y="1901952"/>
            <a:ext cx="35661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requests.get_with_retry(url, retries=3, backoff=True)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40080" y="2267712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0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Function does not exist in the requests library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846320" y="1463040"/>
            <a:ext cx="4023360" cy="1417320"/>
          </a:xfrm>
          <a:prstGeom prst="rect">
            <a:avLst/>
          </a:prstGeom>
          <a:solidFill>
            <a:srgbClr val="0D1117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846320" y="1463040"/>
            <a:ext cx="54864" cy="141732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0" y="1554480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Silent Logic Errors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029200" y="1883664"/>
            <a:ext cx="3657600" cy="320040"/>
          </a:xfrm>
          <a:prstGeom prst="rect">
            <a:avLst/>
          </a:prstGeom>
          <a:solidFill>
            <a:srgbClr val="1A1A1A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74920" y="1901952"/>
            <a:ext cx="35661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total = price * quantity + tax  # tax already included upstream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029200" y="2267712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0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Mathematically valid. Semantically wrong. Ships to prod.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57200" y="3017520"/>
            <a:ext cx="4023360" cy="1417320"/>
          </a:xfrm>
          <a:prstGeom prst="rect">
            <a:avLst/>
          </a:prstGeom>
          <a:solidFill>
            <a:srgbClr val="0D111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57200" y="3017520"/>
            <a:ext cx="54864" cy="1417320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0080" y="3108960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Fake Citations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40080" y="3438144"/>
            <a:ext cx="3657600" cy="320040"/>
          </a:xfrm>
          <a:prstGeom prst="rect">
            <a:avLst/>
          </a:prstGeom>
          <a:solidFill>
            <a:srgbClr val="1A1A1A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85800" y="3456432"/>
            <a:ext cx="35661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"Vaswani et al. (2020) extended transformers with..."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40080" y="3822192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0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The paper was 2017. The extension cited doesn't exist.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4846320" y="3017520"/>
            <a:ext cx="4023360" cy="1417320"/>
          </a:xfrm>
          <a:prstGeom prst="rect">
            <a:avLst/>
          </a:prstGeom>
          <a:solidFill>
            <a:srgbClr val="0D1117"/>
          </a:solidFill>
          <a:ln w="12700">
            <a:solidFill>
              <a:srgbClr val="00C2FF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846320" y="3017520"/>
            <a:ext cx="54864" cy="1417320"/>
          </a:xfrm>
          <a:prstGeom prst="rect">
            <a:avLst/>
          </a:prstGeom>
          <a:solidFill>
            <a:srgbClr val="00C2FF"/>
          </a:solidFill>
          <a:ln w="12700">
            <a:solidFill>
              <a:srgbClr val="00C2F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029200" y="3108960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C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Wrong Library Versions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5029200" y="3438144"/>
            <a:ext cx="3657600" cy="320040"/>
          </a:xfrm>
          <a:prstGeom prst="rect">
            <a:avLst/>
          </a:prstGeom>
          <a:solidFill>
            <a:srgbClr val="1A1A1A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074920" y="3456432"/>
            <a:ext cx="35661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model.fit(X, y, validation_split=0.2, callbacks=[...])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5029200" y="3822192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0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API changed in Keras 3.x. This silently does nothing.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457200" y="4773168"/>
            <a:ext cx="8046720" cy="274320"/>
          </a:xfrm>
          <a:prstGeom prst="rect">
            <a:avLst/>
          </a:prstGeom>
          <a:solidFill>
            <a:srgbClr val="1A0A00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94360" y="4773168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Verification protocol: run it · test it · challenge it · check the docs. Text-only reasoning is fragile.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Prompt Engineering?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960120"/>
            <a:ext cx="8046720" cy="960120"/>
          </a:xfrm>
          <a:prstGeom prst="rect">
            <a:avLst/>
          </a:prstGeom>
          <a:solidFill>
            <a:srgbClr val="0F2040"/>
          </a:solidFill>
          <a:ln w="19050">
            <a:solidFill>
              <a:srgbClr val="00C2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22960" y="960120"/>
            <a:ext cx="75895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C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Designing and refining instructions to get reliable, high-quality outputs from a probabilistic AI system — consistently, at production scale.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2057400"/>
            <a:ext cx="2651760" cy="2697480"/>
          </a:xfrm>
          <a:prstGeom prst="rect">
            <a:avLst/>
          </a:prstGeom>
          <a:solidFill>
            <a:srgbClr val="0F2040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2057400"/>
            <a:ext cx="2651760" cy="38404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2057400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CAN do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85800" y="2532888"/>
            <a:ext cx="2423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Increase accuracy and relevance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85800" y="3008376"/>
            <a:ext cx="2423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tone, format, length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85800" y="3483864"/>
            <a:ext cx="2423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 reasoning step-by-step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85800" y="3959352"/>
            <a:ext cx="2423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Enforce structured output (JSON, XML)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383280" y="2057400"/>
            <a:ext cx="2651760" cy="2697480"/>
          </a:xfrm>
          <a:prstGeom prst="rect">
            <a:avLst/>
          </a:prstGeom>
          <a:solidFill>
            <a:srgbClr val="0F2040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383280" y="2057400"/>
            <a:ext cx="2651760" cy="384048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383280" y="2057400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CANNOT do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520440" y="2532888"/>
            <a:ext cx="2423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a bad model smart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520440" y="3008376"/>
            <a:ext cx="2423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missing training data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520440" y="3483864"/>
            <a:ext cx="2423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Guarantee determinism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520440" y="3959352"/>
            <a:ext cx="2423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without evaluation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217920" y="2057400"/>
            <a:ext cx="2651760" cy="2697480"/>
          </a:xfrm>
          <a:prstGeom prst="rect">
            <a:avLst/>
          </a:prstGeom>
          <a:solidFill>
            <a:srgbClr val="0F2040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217920" y="2057400"/>
            <a:ext cx="2651760" cy="384048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217920" y="2057400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people think it's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355080" y="2532888"/>
            <a:ext cx="2423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"Magic words" that unlock AI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355080" y="3008376"/>
            <a:ext cx="2423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one-time setup task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355080" y="3483864"/>
            <a:ext cx="2423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Writing better sentences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355080" y="3959352"/>
            <a:ext cx="2423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Unnecessary with new models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A0A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6B35">
              <a:alpha val="10000"/>
            </a:srgbClr>
          </a:solidFill>
          <a:ln w="12700">
            <a:solidFill>
              <a:srgbClr val="FF6B35">
                <a:alpha val="1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" y="73152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0" dirty="0">
                <a:solidFill>
                  <a:srgbClr val="000000"/>
                </a:solidFill>
              </a:rPr>
              <a:t>🔴</a:t>
            </a:r>
            <a:endParaRPr lang="en-US" sz="5000" dirty="0"/>
          </a:p>
        </p:txBody>
      </p:sp>
      <p:sp>
        <p:nvSpPr>
          <p:cNvPr id="5" name="Text 3"/>
          <p:cNvSpPr/>
          <p:nvPr/>
        </p:nvSpPr>
        <p:spPr>
          <a:xfrm>
            <a:off x="1920240" y="777240"/>
            <a:ext cx="6400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 1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1920240" y="1463040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Bad Prompt vs Good Prompt — Intern Model in Action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914400" y="2011680"/>
            <a:ext cx="7772400" cy="2651760"/>
          </a:xfrm>
          <a:prstGeom prst="rect">
            <a:avLst/>
          </a:prstGeom>
          <a:solidFill>
            <a:srgbClr val="1A0A00"/>
          </a:solidFill>
          <a:ln w="9525">
            <a:solidFill>
              <a:srgbClr val="FF6B3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97280" y="2148840"/>
            <a:ext cx="6858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INSTRUCTOR NOTES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097280" y="2514600"/>
            <a:ext cx="7406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Open Claude.ai — share screen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097280" y="2971800"/>
            <a:ext cx="7406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Type: "Tell me about AI" → vague. This is giving your intern zero constraints.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097280" y="3429000"/>
            <a:ext cx="7406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Type: "You are a CTO. Explain in 3 bullets why LLMs fail in production — focus on non-determinism, context limits, and eval gaps. Max 80 words." → compare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097280" y="3886200"/>
            <a:ext cx="7406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Ask class: What changed? (Role + Task + Format + Constraint = the 4 levers)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6400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Pattern 1 — Zero-Shot Prompting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7132320" y="109728"/>
            <a:ext cx="1737360" cy="457200"/>
          </a:xfrm>
          <a:prstGeom prst="roundRect">
            <a:avLst>
              <a:gd name="adj" fmla="val 16000"/>
            </a:avLst>
          </a:prstGeom>
          <a:solidFill>
            <a:srgbClr val="00C2FF"/>
          </a:solidFill>
          <a:ln w="12700">
            <a:solidFill>
              <a:srgbClr val="00C2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132320" y="109728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HERE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822960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examples. No scaffolding. Just ask. Modern frontier models are surprisingly capable.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1325880"/>
            <a:ext cx="4114800" cy="2286000"/>
          </a:xfrm>
          <a:prstGeom prst="rect">
            <a:avLst/>
          </a:prstGeom>
          <a:solidFill>
            <a:srgbClr val="0D1117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" y="141732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ZERO-SHOT ✓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94360" y="1737360"/>
            <a:ext cx="3840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"Classify the sentiment of this review as Positive, Negative, or Neutral.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Review: 'The delivery was fast but the product broke on day 2.'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Sentiment:"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846320" y="1325880"/>
            <a:ext cx="402336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0" y="14173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to use zero-shot: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029200" y="182880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Well-defined, simple tasks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029200" y="2212848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attempt (always start here)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029200" y="2596896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examples would be too long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029200" y="2980944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Chatbot user interactions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57200" y="3703320"/>
            <a:ext cx="8321040" cy="685800"/>
          </a:xfrm>
          <a:prstGeom prst="rect">
            <a:avLst/>
          </a:prstGeom>
          <a:solidFill>
            <a:srgbClr val="EFF6FF"/>
          </a:solidFill>
          <a:ln w="10160">
            <a:solidFill>
              <a:srgbClr val="0EA5E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0080" y="3703320"/>
            <a:ext cx="8138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Rule: </a:t>
            </a:r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zero-shot works, ship it. Any added complexity is overhead that must justify itself.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6400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Pattern 2 — Few-Shot Prompting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6949440" y="109728"/>
            <a:ext cx="1920240" cy="457200"/>
          </a:xfrm>
          <a:prstGeom prst="roundRect">
            <a:avLst>
              <a:gd name="adj" fmla="val 16000"/>
            </a:avLst>
          </a:prstGeom>
          <a:solidFill>
            <a:srgbClr val="7B2FBE"/>
          </a:solidFill>
          <a:ln w="12700">
            <a:solidFill>
              <a:srgbClr val="7B2FB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949440" y="109728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LEVERAGE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804672"/>
            <a:ext cx="8321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3–5 well-chosen examples beat any amount of prose instruction.  (Anthropic's own guidance)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365760" y="1234440"/>
            <a:ext cx="8412480" cy="2971800"/>
          </a:xfrm>
          <a:prstGeom prst="rect">
            <a:avLst/>
          </a:prstGeom>
          <a:solidFill>
            <a:srgbClr val="0D1117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" y="1325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2CC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FEW-SHOT EXAMPLE — Sentiment Classification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94360" y="1673352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2A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&lt;examples&gt;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594360" y="187452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2A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&lt;example&gt;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94360" y="2075688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&lt;input&gt;The package arrived early and was perfectly packed.&lt;/input&gt;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594360" y="2276856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&lt;output&gt;Positive&lt;/output&gt;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594360" y="2478024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2A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&lt;/example&gt;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594360" y="2679192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2A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&lt;example&gt;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594360" y="288036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&lt;input&gt;It stopped working after 2 days. Terrible quality.&lt;/input&gt;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594360" y="3081528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&lt;output&gt;Negative&lt;/output&gt;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594360" y="3282696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2A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&lt;/example&gt;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594360" y="3483864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2A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&lt;/examples&gt;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594360" y="3685032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594360" y="388620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Classify: "The app is okay but customer support never replies."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365760" y="4297680"/>
            <a:ext cx="8412480" cy="594360"/>
          </a:xfrm>
          <a:prstGeom prst="rect">
            <a:avLst/>
          </a:prstGeom>
          <a:solidFill>
            <a:srgbClr val="F0E6FF"/>
          </a:solidFill>
          <a:ln w="10160">
            <a:solidFill>
              <a:srgbClr val="7B2FB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94360" y="4297680"/>
            <a:ext cx="8138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B2F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Rules: </a:t>
            </a:r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3–5 examples (not 12+).  Wrap in &lt;example&gt; tags.  Make them DIVERSE so the model doesn't latch onto spurious patterns.  Last line = the real query.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6858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Pattern 3 — Chain-of-Thought (CoT)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822960"/>
            <a:ext cx="402336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822960"/>
            <a:ext cx="4023360" cy="384048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822960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WITHOUT Chain-of-Thought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1298448"/>
            <a:ext cx="3657600" cy="914400"/>
          </a:xfrm>
          <a:prstGeom prst="rect">
            <a:avLst/>
          </a:prstGeom>
          <a:solidFill>
            <a:srgbClr val="FFF5F5"/>
          </a:solidFill>
          <a:ln w="6350">
            <a:solidFill>
              <a:srgbClr val="EF444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1344168"/>
            <a:ext cx="3383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PROMPT: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"What is the result when you double 3, subtract 4, then multiply by 5?"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48640" y="233172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MODEL: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48640" y="260604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548640" y="3035808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(wrong! The answer is 10)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48640" y="3401568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working shown. No way to catch or debug the error.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754880" y="822960"/>
            <a:ext cx="402336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754880" y="822960"/>
            <a:ext cx="4023360" cy="38404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54880" y="822960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WITH Chain-of-Thought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937760" y="1298448"/>
            <a:ext cx="3657600" cy="1097280"/>
          </a:xfrm>
          <a:prstGeom prst="rect">
            <a:avLst/>
          </a:prstGeom>
          <a:solidFill>
            <a:srgbClr val="F0FFF4"/>
          </a:solidFill>
          <a:ln w="6350">
            <a:solidFill>
              <a:srgbClr val="10B98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74920" y="1344168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PROMPT: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"...Think step by step before answering."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074920" y="1920240"/>
            <a:ext cx="3383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add: "Verify your answer before responding."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937760" y="248716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MODEL: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937760" y="2788920"/>
            <a:ext cx="3657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First, double 3 → 6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Then, subtract 4 → 6 − 4 = 2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Finally, multiply 2 × 5 = 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  ✓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937760" y="3767328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Transparent reasoning = debuggable = trustworthy.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4937760" y="4133088"/>
            <a:ext cx="3657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Don't force CoT on simple prompts — inflates cost/latency.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01A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0B981">
              <a:alpha val="8000"/>
            </a:srgbClr>
          </a:solidFill>
          <a:ln w="12700">
            <a:solidFill>
              <a:srgbClr val="10B981">
                <a:alpha val="8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" y="45720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0" dirty="0">
                <a:solidFill>
                  <a:srgbClr val="000000"/>
                </a:solidFill>
              </a:rPr>
              <a:t>🔴</a:t>
            </a:r>
            <a:endParaRPr lang="en-US" sz="5000" dirty="0"/>
          </a:p>
        </p:txBody>
      </p:sp>
      <p:sp>
        <p:nvSpPr>
          <p:cNvPr id="5" name="Text 3"/>
          <p:cNvSpPr/>
          <p:nvPr/>
        </p:nvSpPr>
        <p:spPr>
          <a:xfrm>
            <a:off x="1920240" y="502920"/>
            <a:ext cx="6858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 2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1920240" y="1188720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Zero-Shot → Few-Shot → CoT on the SAME task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914400" y="1920240"/>
            <a:ext cx="7772400" cy="2834640"/>
          </a:xfrm>
          <a:prstGeom prst="rect">
            <a:avLst/>
          </a:prstGeom>
          <a:solidFill>
            <a:srgbClr val="001A00"/>
          </a:solidFill>
          <a:ln w="9525">
            <a:solidFill>
              <a:srgbClr val="10B98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97280" y="2057400"/>
            <a:ext cx="7406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TASK: Classify customer support tickets into: Billing / Technical / Shipping / Returns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97280" y="2542032"/>
            <a:ext cx="7406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Round 1 (Zero-shot): Just ask. No examples. See what the model guesses.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097280" y="3026664"/>
            <a:ext cx="7406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Round 2 (Few-shot): Add 3 labeled examples in &lt;example&gt; tags. Watch accuracy improve.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097280" y="3511296"/>
            <a:ext cx="7406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Round 3 (CoT): Add 'Think step by step — what keywords signal each category?'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097280" y="3995928"/>
            <a:ext cx="7406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Discussion: Which was most reliable? What would you use in production? Why?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Other 4 Primitives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804672"/>
            <a:ext cx="411480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804672"/>
            <a:ext cx="73152" cy="1783080"/>
          </a:xfrm>
          <a:prstGeom prst="rect">
            <a:avLst/>
          </a:prstGeom>
          <a:solidFill>
            <a:srgbClr val="7B2FBE"/>
          </a:solidFill>
          <a:ln w="12700">
            <a:solidFill>
              <a:srgbClr val="7B2FB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914400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🔁 Pattern 4: Self-Consistency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66928" y="1280160"/>
            <a:ext cx="1371600" cy="228600"/>
          </a:xfrm>
          <a:prstGeom prst="roundRect">
            <a:avLst>
              <a:gd name="adj" fmla="val 16000"/>
            </a:avLst>
          </a:prstGeom>
          <a:solidFill>
            <a:srgbClr val="7B2FBE">
              <a:alpha val="25000"/>
            </a:srgbClr>
          </a:solidFill>
          <a:ln w="12700">
            <a:solidFill>
              <a:srgbClr val="7B2FB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66928" y="128016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7B2F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stakes only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66928" y="1581912"/>
            <a:ext cx="3794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same prompt N times (temp &gt; 0), majority-vote the answer. Halves error rate on math/logic. Reserve for high-stakes — costs N× tokens.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754880" y="804672"/>
            <a:ext cx="411480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754880" y="804672"/>
            <a:ext cx="73152" cy="1783080"/>
          </a:xfrm>
          <a:prstGeom prst="rect">
            <a:avLst/>
          </a:prstGeom>
          <a:solidFill>
            <a:srgbClr val="00C2FF"/>
          </a:solidFill>
          <a:ln w="12700">
            <a:solidFill>
              <a:srgbClr val="00C2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956048" y="914400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⛓ Pattern 5: Prompt Chaining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956048" y="1280160"/>
            <a:ext cx="1371600" cy="228600"/>
          </a:xfrm>
          <a:prstGeom prst="roundRect">
            <a:avLst>
              <a:gd name="adj" fmla="val 16000"/>
            </a:avLst>
          </a:prstGeom>
          <a:solidFill>
            <a:srgbClr val="00C2FF">
              <a:alpha val="25000"/>
            </a:srgbClr>
          </a:solidFill>
          <a:ln w="12700">
            <a:solidFill>
              <a:srgbClr val="00C2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956048" y="128016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C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essential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956048" y="1581912"/>
            <a:ext cx="3794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of step 1 → input of step 2. Generate → Critique → Revise. The bridge from prompting to flow engineering and every agentic workflow.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365760" y="2724912"/>
            <a:ext cx="411480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65760" y="2724912"/>
            <a:ext cx="73152" cy="178308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66928" y="2834640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Pattern 6: RAG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566928" y="3200400"/>
            <a:ext cx="1371600" cy="228600"/>
          </a:xfrm>
          <a:prstGeom prst="roundRect">
            <a:avLst>
              <a:gd name="adj" fmla="val 16000"/>
            </a:avLst>
          </a:prstGeom>
          <a:solidFill>
            <a:srgbClr val="10B981">
              <a:alpha val="25000"/>
            </a:srgbClr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66928" y="320040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Engineering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566928" y="3502152"/>
            <a:ext cx="3794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Retrieve relevant external content (vector DB, search) and inject into the prompt. RAG is a context-assembly strategy that depends on good prompting underneath.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4754880" y="2724912"/>
            <a:ext cx="411480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754880" y="2724912"/>
            <a:ext cx="73152" cy="178308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956048" y="2834640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⚙️ Pattern 7: ReAct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4956048" y="3200400"/>
            <a:ext cx="1371600" cy="228600"/>
          </a:xfrm>
          <a:prstGeom prst="roundRect">
            <a:avLst>
              <a:gd name="adj" fmla="val 16000"/>
            </a:avLst>
          </a:prstGeom>
          <a:solidFill>
            <a:srgbClr val="F97316">
              <a:alpha val="25000"/>
            </a:srgbClr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956048" y="320040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foundation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4956048" y="3502152"/>
            <a:ext cx="3794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 → Act → Observe loop. Model thinks, calls tool, reads result, thinks again. Foundation of every modern AI agent. Deep dive on May 7.</a:t>
            </a:r>
            <a:endParaRPr lang="en-US" sz="11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6858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Curate, Don't Dump  ·  Simplicity First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6949440" y="109728"/>
            <a:ext cx="1920240" cy="457200"/>
          </a:xfrm>
          <a:prstGeom prst="roundRect">
            <a:avLst>
              <a:gd name="adj" fmla="val 12000"/>
            </a:avLst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949440" y="109728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KARPATHY #2 + #4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365760" y="822960"/>
            <a:ext cx="411480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822960"/>
            <a:ext cx="73152" cy="393192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66928" y="896112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Signal-to-Noise Ratio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566928" y="1280160"/>
            <a:ext cx="3749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"LLMs degrade when overwhelmed with irrelevant tokens.  Curate, don't dump."  — Karpathy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2029968"/>
            <a:ext cx="3657600" cy="777240"/>
          </a:xfrm>
          <a:prstGeom prst="rect">
            <a:avLst/>
          </a:prstGeom>
          <a:solidFill>
            <a:srgbClr val="FFF5F5"/>
          </a:solidFill>
          <a:ln w="6350">
            <a:solidFill>
              <a:srgbClr val="EF444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85800" y="2103120"/>
            <a:ext cx="34747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❌  Pasting entire 800-line codebase to ask: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'Fix the null pointer on line 423'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48640" y="2880360"/>
            <a:ext cx="3657600" cy="868680"/>
          </a:xfrm>
          <a:prstGeom prst="rect">
            <a:avLst/>
          </a:prstGeom>
          <a:solidFill>
            <a:srgbClr val="F0FFF4"/>
          </a:solidFill>
          <a:ln w="6350">
            <a:solidFill>
              <a:srgbClr val="10B98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85800" y="2953512"/>
            <a:ext cx="3474720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✅  Paste only the relevant function + its type signatures + the error message. Nothing else.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66928" y="3822192"/>
            <a:ext cx="37490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Rule: Only the functions, interfaces, and types needed for the task. Hallucinations increase with noise.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4709160" y="822960"/>
            <a:ext cx="411480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709160" y="822960"/>
            <a:ext cx="73152" cy="393192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92040" y="896112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Simplicity First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4892040" y="1298448"/>
            <a:ext cx="3657600" cy="548640"/>
          </a:xfrm>
          <a:prstGeom prst="rect">
            <a:avLst/>
          </a:prstGeom>
          <a:solidFill>
            <a:srgbClr val="FAEEDA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983480" y="1344168"/>
            <a:ext cx="3520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"If this feels like overengineering, it is."  — Karpathy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892040" y="1938528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LLMs tend to overengineer. Fight it aggressively: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892040" y="2331720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</a:t>
            </a:r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Speculative features — 'might be useful later'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892040" y="2770632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</a:t>
            </a:r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Premature abstractions and patterns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892040" y="3209544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</a:t>
            </a:r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Unnecessary configurability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892040" y="3648456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</a:t>
            </a:r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Minimum code that solves the problem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892040" y="4087368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</a:t>
            </a:r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Zero-shot first, add complexity only when it fails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10-Element Production Template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822960"/>
            <a:ext cx="4160520" cy="62179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822960"/>
            <a:ext cx="384048" cy="621792"/>
          </a:xfrm>
          <a:prstGeom prst="rect">
            <a:avLst/>
          </a:prstGeom>
          <a:solidFill>
            <a:srgbClr val="00C2FF">
              <a:alpha val="25000"/>
            </a:srgbClr>
          </a:solidFill>
          <a:ln w="12700">
            <a:solidFill>
              <a:srgbClr val="00C2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822960"/>
            <a:ext cx="38404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C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868680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Context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22960" y="1143000"/>
            <a:ext cx="3520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is the AI? Role + expertise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65760" y="1536192"/>
            <a:ext cx="4160520" cy="62179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65760" y="1536192"/>
            <a:ext cx="384048" cy="621792"/>
          </a:xfrm>
          <a:prstGeom prst="rect">
            <a:avLst/>
          </a:prstGeom>
          <a:solidFill>
            <a:srgbClr val="7B2FBE">
              <a:alpha val="25000"/>
            </a:srgbClr>
          </a:solidFill>
          <a:ln w="12700">
            <a:solidFill>
              <a:srgbClr val="7B2FB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" y="1536192"/>
            <a:ext cx="38404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7B2F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22960" y="1581912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Tone Context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822960" y="1856232"/>
            <a:ext cx="3520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"Professional but approachable"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65760" y="2249424"/>
            <a:ext cx="4160520" cy="62179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65760" y="2249424"/>
            <a:ext cx="384048" cy="621792"/>
          </a:xfrm>
          <a:prstGeom prst="rect">
            <a:avLst/>
          </a:prstGeom>
          <a:solidFill>
            <a:srgbClr val="10B981">
              <a:alpha val="25000"/>
            </a:srgbClr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2249424"/>
            <a:ext cx="38404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822960" y="2295144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Background Data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822960" y="2569464"/>
            <a:ext cx="3520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reports, emails, style guides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365760" y="2962656"/>
            <a:ext cx="4160520" cy="62179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65760" y="2962656"/>
            <a:ext cx="384048" cy="621792"/>
          </a:xfrm>
          <a:prstGeom prst="rect">
            <a:avLst/>
          </a:prstGeom>
          <a:solidFill>
            <a:srgbClr val="F97316">
              <a:alpha val="25000"/>
            </a:srgbClr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65760" y="2962656"/>
            <a:ext cx="38404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822960" y="3008376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Rules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822960" y="3282696"/>
            <a:ext cx="3520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Constraints: 'Never exceed 500 words'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365760" y="3675888"/>
            <a:ext cx="4160520" cy="62179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65760" y="3675888"/>
            <a:ext cx="384048" cy="621792"/>
          </a:xfrm>
          <a:prstGeom prst="rect">
            <a:avLst/>
          </a:prstGeom>
          <a:solidFill>
            <a:srgbClr val="00C2FF">
              <a:alpha val="25000"/>
            </a:srgbClr>
          </a:solidFill>
          <a:ln w="12700">
            <a:solidFill>
              <a:srgbClr val="00C2F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3675888"/>
            <a:ext cx="38404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C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822960" y="3721608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Examples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822960" y="3995928"/>
            <a:ext cx="3520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1–2 gold-standard examples (use tags)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4754880" y="822960"/>
            <a:ext cx="4160520" cy="62179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754880" y="822960"/>
            <a:ext cx="384048" cy="621792"/>
          </a:xfrm>
          <a:prstGeom prst="rect">
            <a:avLst/>
          </a:prstGeom>
          <a:solidFill>
            <a:srgbClr val="7B2FBE">
              <a:alpha val="25000"/>
            </a:srgbClr>
          </a:solidFill>
          <a:ln w="12700">
            <a:solidFill>
              <a:srgbClr val="7B2FBE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754880" y="822960"/>
            <a:ext cx="38404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7B2F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5212080" y="868680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Conversation History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5212080" y="1143000"/>
            <a:ext cx="3520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Paste prior context if relevant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4754880" y="1536192"/>
            <a:ext cx="4160520" cy="62179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754880" y="1536192"/>
            <a:ext cx="384048" cy="621792"/>
          </a:xfrm>
          <a:prstGeom prst="rect">
            <a:avLst/>
          </a:prstGeom>
          <a:solidFill>
            <a:srgbClr val="10B981">
              <a:alpha val="25000"/>
            </a:srgbClr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754880" y="1536192"/>
            <a:ext cx="38404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5212080" y="1581912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Immediate Task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5212080" y="1856232"/>
            <a:ext cx="3520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 want RIGHT NOW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4754880" y="2249424"/>
            <a:ext cx="4160520" cy="62179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4754880" y="2249424"/>
            <a:ext cx="384048" cy="621792"/>
          </a:xfrm>
          <a:prstGeom prst="rect">
            <a:avLst/>
          </a:prstGeom>
          <a:solidFill>
            <a:srgbClr val="F97316">
              <a:alpha val="25000"/>
            </a:srgbClr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754880" y="2249424"/>
            <a:ext cx="38404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5212080" y="2295144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 Step-by-Step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5212080" y="2569464"/>
            <a:ext cx="3520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Activate deliberate reasoning</a:t>
            </a:r>
            <a:endParaRPr lang="en-US" sz="1050" dirty="0"/>
          </a:p>
        </p:txBody>
      </p:sp>
      <p:sp>
        <p:nvSpPr>
          <p:cNvPr id="44" name="Shape 42"/>
          <p:cNvSpPr/>
          <p:nvPr/>
        </p:nvSpPr>
        <p:spPr>
          <a:xfrm>
            <a:off x="4754880" y="2962656"/>
            <a:ext cx="4160520" cy="62179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4754880" y="2962656"/>
            <a:ext cx="384048" cy="621792"/>
          </a:xfrm>
          <a:prstGeom prst="rect">
            <a:avLst/>
          </a:prstGeom>
          <a:solidFill>
            <a:srgbClr val="00C2FF">
              <a:alpha val="25000"/>
            </a:srgbClr>
          </a:solidFill>
          <a:ln w="12700">
            <a:solidFill>
              <a:srgbClr val="00C2FF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754880" y="2962656"/>
            <a:ext cx="38404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C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5212080" y="3008376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Format</a:t>
            </a:r>
            <a:endParaRPr lang="en-US" sz="1200" dirty="0"/>
          </a:p>
        </p:txBody>
      </p:sp>
      <p:sp>
        <p:nvSpPr>
          <p:cNvPr id="48" name="Text 46"/>
          <p:cNvSpPr/>
          <p:nvPr/>
        </p:nvSpPr>
        <p:spPr>
          <a:xfrm>
            <a:off x="5212080" y="3282696"/>
            <a:ext cx="3520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 / Markdown / XML — be explicit</a:t>
            </a:r>
            <a:endParaRPr lang="en-US" sz="1050" dirty="0"/>
          </a:p>
        </p:txBody>
      </p:sp>
      <p:sp>
        <p:nvSpPr>
          <p:cNvPr id="49" name="Shape 47"/>
          <p:cNvSpPr/>
          <p:nvPr/>
        </p:nvSpPr>
        <p:spPr>
          <a:xfrm>
            <a:off x="4754880" y="3675888"/>
            <a:ext cx="4160520" cy="62179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4754880" y="3675888"/>
            <a:ext cx="384048" cy="621792"/>
          </a:xfrm>
          <a:prstGeom prst="rect">
            <a:avLst/>
          </a:prstGeom>
          <a:solidFill>
            <a:srgbClr val="7B2FBE">
              <a:alpha val="25000"/>
            </a:srgbClr>
          </a:solidFill>
          <a:ln w="12700">
            <a:solidFill>
              <a:srgbClr val="7B2FBE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754880" y="3675888"/>
            <a:ext cx="38404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7B2F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100" dirty="0"/>
          </a:p>
        </p:txBody>
      </p:sp>
      <p:sp>
        <p:nvSpPr>
          <p:cNvPr id="52" name="Text 50"/>
          <p:cNvSpPr/>
          <p:nvPr/>
        </p:nvSpPr>
        <p:spPr>
          <a:xfrm>
            <a:off x="5212080" y="3721608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Prefilled Response</a:t>
            </a:r>
            <a:endParaRPr lang="en-US" sz="1200" dirty="0"/>
          </a:p>
        </p:txBody>
      </p:sp>
      <p:sp>
        <p:nvSpPr>
          <p:cNvPr id="53" name="Text 51"/>
          <p:cNvSpPr/>
          <p:nvPr/>
        </p:nvSpPr>
        <p:spPr>
          <a:xfrm>
            <a:off x="5212080" y="3995928"/>
            <a:ext cx="3520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the answer (advanced)</a:t>
            </a:r>
            <a:endParaRPr lang="en-US" sz="1050" dirty="0"/>
          </a:p>
        </p:txBody>
      </p:sp>
      <p:sp>
        <p:nvSpPr>
          <p:cNvPr id="54" name="Text 52"/>
          <p:cNvSpPr/>
          <p:nvPr/>
        </p:nvSpPr>
        <p:spPr>
          <a:xfrm>
            <a:off x="365760" y="4800600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i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⭐  Highest signal-to-token ratio: #05 (Examples) and #09 (Output Format)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Prompts — The AI's Constitution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80467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the model KNOWS about its role before you say a word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365760" y="1188720"/>
            <a:ext cx="4572000" cy="3520440"/>
          </a:xfrm>
          <a:prstGeom prst="rect">
            <a:avLst/>
          </a:prstGeom>
          <a:solidFill>
            <a:srgbClr val="0D1117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298448"/>
            <a:ext cx="4297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2CC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REAL SYSTEM PROMPT STRUCTURE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48640" y="1600200"/>
            <a:ext cx="4297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2A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&lt;role&gt;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48640" y="1801368"/>
            <a:ext cx="4297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You are ARIA, a senior supply chain analyst.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48640" y="2002536"/>
            <a:ext cx="4297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Deep expertise in replenishment planning,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48640" y="2203704"/>
            <a:ext cx="4297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safety stock calculation, demand forecasting.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48640" y="2404872"/>
            <a:ext cx="4297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2A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&lt;/role&gt;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48640" y="2606040"/>
            <a:ext cx="4297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48640" y="2807208"/>
            <a:ext cx="4297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2A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&lt;rules&gt;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48640" y="3008376"/>
            <a:ext cx="4297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Never recommend actions that deplete stock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48640" y="3209544"/>
            <a:ext cx="4297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below 14-day safety buffer.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48640" y="3410712"/>
            <a:ext cx="4297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Always cite the source data file.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48640" y="3611880"/>
            <a:ext cx="4297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Respond in JSON when asked for data.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48640" y="3813048"/>
            <a:ext cx="4297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2A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&lt;/rules&gt;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48640" y="4014216"/>
            <a:ext cx="4297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48640" y="4215384"/>
            <a:ext cx="4297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&lt;examples&gt;...(3 gold-standard examples)&lt;/examples&gt;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212080" y="1188720"/>
            <a:ext cx="3657600" cy="3520440"/>
          </a:xfrm>
          <a:prstGeom prst="rect">
            <a:avLst/>
          </a:prstGeom>
          <a:solidFill>
            <a:srgbClr val="0D1117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394960" y="1298448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2CC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MYTH BUSTERS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394960" y="1664208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"Keep prompts short"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394960" y="1965960"/>
            <a:ext cx="3383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Claude's own system prompt: 24,000 tokens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5394960" y="2441448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"Users can't see it"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394960" y="2743200"/>
            <a:ext cx="3383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System Prompt Leakage is OWASP #7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5394960" y="3218688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"Works same on all models"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394960" y="3520440"/>
            <a:ext cx="3383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Claude loves XML. GPT prefers markdown.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5394960" y="3995928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"One prompt works forever"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5394960" y="4297680"/>
            <a:ext cx="3383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Model updates change behavior. Always retest.</a:t>
            </a:r>
            <a:endParaRPr lang="en-US" sz="10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00D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C2FF">
              <a:alpha val="8000"/>
            </a:srgbClr>
          </a:solidFill>
          <a:ln w="12700">
            <a:solidFill>
              <a:srgbClr val="00C2FF">
                <a:alpha val="8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00C2FF"/>
          </a:solidFill>
          <a:ln w="12700">
            <a:solidFill>
              <a:srgbClr val="00C2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" y="45720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0" dirty="0">
                <a:solidFill>
                  <a:srgbClr val="000000"/>
                </a:solidFill>
              </a:rPr>
              <a:t>🔴</a:t>
            </a:r>
            <a:endParaRPr lang="en-US" sz="5000" dirty="0"/>
          </a:p>
        </p:txBody>
      </p:sp>
      <p:sp>
        <p:nvSpPr>
          <p:cNvPr id="5" name="Text 3"/>
          <p:cNvSpPr/>
          <p:nvPr/>
        </p:nvSpPr>
        <p:spPr>
          <a:xfrm>
            <a:off x="1920240" y="502920"/>
            <a:ext cx="6858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00C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 3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1920240" y="1188720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System Prompt from Scratch — Together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914400" y="1920240"/>
            <a:ext cx="7772400" cy="2743200"/>
          </a:xfrm>
          <a:prstGeom prst="rect">
            <a:avLst/>
          </a:prstGeom>
          <a:solidFill>
            <a:srgbClr val="000D1A"/>
          </a:solidFill>
          <a:ln w="9525">
            <a:solidFill>
              <a:srgbClr val="00C2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97280" y="2057400"/>
            <a:ext cx="7406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C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SCENARIO: Design an AI Teaching Assistant for this FDE Academy course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97280" y="2487168"/>
            <a:ext cx="7406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 — Role: What expertise? (Prompt Engineering, Python, LLMs)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097280" y="2907792"/>
            <a:ext cx="7406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 — Rules: What should it NEVER do? (Give answers without explanation, use jargon without defining it)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097280" y="3328416"/>
            <a:ext cx="7406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 — Format: How should it respond? (Code blocks, max 150 words per answer)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097280" y="3749040"/>
            <a:ext cx="7406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4 — Send to Claude.ai. Test with 3 questions. Does it behave as designed?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097280" y="4169664"/>
            <a:ext cx="7406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5 — Break it: try to violate its own rules. What did you find? (Karpathy: assume it will fail)</a:t>
            </a:r>
            <a:endParaRPr lang="en-US" sz="12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Engineering — The Real Shift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822960"/>
            <a:ext cx="8412480" cy="804672"/>
          </a:xfrm>
          <a:prstGeom prst="rect">
            <a:avLst/>
          </a:prstGeom>
          <a:solidFill>
            <a:srgbClr val="F0F6FF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822960"/>
            <a:ext cx="8046720" cy="80467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C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</a:t>
            </a:r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engineering is the set of techniques to ensure the right information is in the model's context window at inference time. It subsumes prompting entirely.</a:t>
            </a:r>
            <a:pPr indent="0" marL="0">
              <a:buNone/>
            </a:pPr>
            <a:r>
              <a:rPr lang="en-US" sz="2800" b="1" dirty="0">
                <a:solidFill>
                  <a:srgbClr val="00C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640080" y="1627632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Andrej Karpathy (renamed the discipline, mid-2025)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65760" y="1956816"/>
            <a:ext cx="4023360" cy="26517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65760" y="1956816"/>
            <a:ext cx="4023360" cy="411480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1956816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Engineering (2022)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48640" y="2441448"/>
            <a:ext cx="374904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words go in the prompt?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548640" y="2871216"/>
            <a:ext cx="374904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Focus: user turn messages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548640" y="3300984"/>
            <a:ext cx="374904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Evaluated by vibes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548640" y="3730752"/>
            <a:ext cx="374904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Single-turn optimization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548640" y="4160520"/>
            <a:ext cx="374904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Ignored memory &amp; retrieval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4754880" y="1956816"/>
            <a:ext cx="4023360" cy="2651760"/>
          </a:xfrm>
          <a:prstGeom prst="rect">
            <a:avLst/>
          </a:prstGeom>
          <a:solidFill>
            <a:srgbClr val="FFFFFF"/>
          </a:solidFill>
          <a:ln w="15240">
            <a:solidFill>
              <a:srgbClr val="0EA5E9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754880" y="1956816"/>
            <a:ext cx="4023360" cy="41148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54880" y="1956816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Engineering (2026)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937760" y="2441448"/>
            <a:ext cx="374904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tokens are in the window?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4937760" y="2871216"/>
            <a:ext cx="374904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+ history + retrieval + tools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4937760" y="3300984"/>
            <a:ext cx="374904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Evaluated systematically (Promptfoo)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4937760" y="3730752"/>
            <a:ext cx="374904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Multi-turn pipeline design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4937760" y="4160520"/>
            <a:ext cx="374904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Memory, RAG, document positioning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365760" y="480060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i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✨  Position hack: Long documents at TOP, question at BOTTOM = up to 30% quality improvement (Anthropic internal tests)</a:t>
            </a:r>
            <a:endParaRPr lang="en-US" sz="11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860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Harness Engineering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126480" y="256032"/>
            <a:ext cx="2743200" cy="502920"/>
          </a:xfrm>
          <a:prstGeom prst="roundRect">
            <a:avLst>
              <a:gd name="adj" fmla="val 14545"/>
            </a:avLst>
          </a:prstGeom>
          <a:solidFill>
            <a:srgbClr val="10B981">
              <a:alpha val="80000"/>
            </a:srgbClr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126480" y="256032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Era We're In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914400"/>
            <a:ext cx="8046720" cy="777240"/>
          </a:xfrm>
          <a:prstGeom prst="rect">
            <a:avLst/>
          </a:prstGeom>
          <a:solidFill>
            <a:srgbClr val="0F2040"/>
          </a:solidFill>
          <a:ln w="19050">
            <a:solidFill>
              <a:srgbClr val="00C2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914400"/>
            <a:ext cx="8046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0C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</a:t>
            </a:r>
            <a:pPr algn="ctr"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=  </a:t>
            </a:r>
            <a:pPr algn="ctr" indent="0" marL="0">
              <a:buNone/>
            </a:pPr>
            <a:r>
              <a:rPr lang="en-US" sz="2800" b="1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pPr algn="ctr"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+  </a:t>
            </a:r>
            <a:pPr algn="ctr" indent="0" marL="0">
              <a:buNone/>
            </a:pPr>
            <a:r>
              <a:rPr lang="en-US" sz="28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Harness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548640" y="1874520"/>
            <a:ext cx="2651760" cy="1188720"/>
          </a:xfrm>
          <a:prstGeom prst="rect">
            <a:avLst/>
          </a:prstGeom>
          <a:solidFill>
            <a:srgbClr val="0F2040"/>
          </a:solidFill>
          <a:ln w="12700">
            <a:solidFill>
              <a:srgbClr val="00C2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1874520"/>
            <a:ext cx="73152" cy="1188720"/>
          </a:xfrm>
          <a:prstGeom prst="rect">
            <a:avLst/>
          </a:prstGeom>
          <a:solidFill>
            <a:srgbClr val="00C2FF"/>
          </a:solidFill>
          <a:ln w="12700">
            <a:solidFill>
              <a:srgbClr val="00C2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1984248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C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Prompt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31520" y="2377440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0C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Identity, rules, persona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3383280" y="1874520"/>
            <a:ext cx="2651760" cy="1188720"/>
          </a:xfrm>
          <a:prstGeom prst="rect">
            <a:avLst/>
          </a:prstGeom>
          <a:solidFill>
            <a:srgbClr val="0F2040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383280" y="1874520"/>
            <a:ext cx="73152" cy="1188720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566160" y="1984248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Definitions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566160" y="2377440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0C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APIs, functions, search, code exec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217920" y="1874520"/>
            <a:ext cx="2651760" cy="1188720"/>
          </a:xfrm>
          <a:prstGeom prst="rect">
            <a:avLst/>
          </a:prstGeom>
          <a:solidFill>
            <a:srgbClr val="0F2040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217920" y="1874520"/>
            <a:ext cx="73152" cy="118872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00800" y="1984248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400800" y="2377440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0C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Short-term (context) + long-term (vector DB)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548640" y="3200400"/>
            <a:ext cx="2651760" cy="1188720"/>
          </a:xfrm>
          <a:prstGeom prst="rect">
            <a:avLst/>
          </a:prstGeom>
          <a:solidFill>
            <a:srgbClr val="0F2040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48640" y="3200400"/>
            <a:ext cx="73152" cy="118872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31520" y="3310128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Routing Logic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731520" y="3703320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0C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model? Which tool? When?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3383280" y="3200400"/>
            <a:ext cx="2651760" cy="1188720"/>
          </a:xfrm>
          <a:prstGeom prst="rect">
            <a:avLst/>
          </a:prstGeom>
          <a:solidFill>
            <a:srgbClr val="0F2040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383280" y="3200400"/>
            <a:ext cx="73152" cy="118872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566160" y="3310128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Validation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3566160" y="3703320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0C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 check, safety filter, retry logic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6217920" y="3200400"/>
            <a:ext cx="2651760" cy="1188720"/>
          </a:xfrm>
          <a:prstGeom prst="rect">
            <a:avLst/>
          </a:prstGeom>
          <a:solidFill>
            <a:srgbClr val="0F2040"/>
          </a:solidFill>
          <a:ln w="12700">
            <a:solidFill>
              <a:srgbClr val="00C2F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217920" y="3200400"/>
            <a:ext cx="73152" cy="1188720"/>
          </a:xfrm>
          <a:prstGeom prst="rect">
            <a:avLst/>
          </a:prstGeom>
          <a:solidFill>
            <a:srgbClr val="00C2FF"/>
          </a:solidFill>
          <a:ln w="12700">
            <a:solidFill>
              <a:srgbClr val="00C2F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400800" y="3310128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C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Feedback Loop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6400800" y="3703320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0C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 → improve → redeploy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548640" y="4846320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7BA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"If you're not the model, you're the harness."  — Addy Osmani</a:t>
            </a:r>
            <a:endParaRPr lang="en-US" sz="11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NOT to Do — Anti-Patterns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65760" y="822960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Vague by default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1152144"/>
            <a:ext cx="4069080" cy="749808"/>
          </a:xfrm>
          <a:prstGeom prst="rect">
            <a:avLst/>
          </a:prstGeom>
          <a:solidFill>
            <a:srgbClr val="FFF5F5"/>
          </a:solidFill>
          <a:ln w="6350">
            <a:solidFill>
              <a:srgbClr val="EF444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188720"/>
            <a:ext cx="3840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❌  "Tell me about machine learning"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709160" y="1152144"/>
            <a:ext cx="4069080" cy="749808"/>
          </a:xfrm>
          <a:prstGeom prst="rect">
            <a:avLst/>
          </a:prstGeom>
          <a:solidFill>
            <a:srgbClr val="F0FFF4"/>
          </a:solidFill>
          <a:ln w="6350">
            <a:solidFill>
              <a:srgbClr val="10B98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846320" y="1188720"/>
            <a:ext cx="3840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✅  "Explain in 3 bullet points how gradient descent works — target: junior developer, max 80 words"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65760" y="2194560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Negative instructions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65760" y="2523744"/>
            <a:ext cx="4069080" cy="749808"/>
          </a:xfrm>
          <a:prstGeom prst="rect">
            <a:avLst/>
          </a:prstGeom>
          <a:solidFill>
            <a:srgbClr val="FFF5F5"/>
          </a:solidFill>
          <a:ln w="6350">
            <a:solidFill>
              <a:srgbClr val="EF444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2560320"/>
            <a:ext cx="3840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❌  "Don't use bullet points. Don't be verbose."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709160" y="2523744"/>
            <a:ext cx="4069080" cy="749808"/>
          </a:xfrm>
          <a:prstGeom prst="rect">
            <a:avLst/>
          </a:prstGeom>
          <a:solidFill>
            <a:srgbClr val="F0FFF4"/>
          </a:solidFill>
          <a:ln w="6350">
            <a:solidFill>
              <a:srgbClr val="10B98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46320" y="2560320"/>
            <a:ext cx="3840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✅  "Respond in flowing prose paragraphs, 150 words maximum, no hedging language."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65760" y="3566160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12-example overload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365760" y="3895344"/>
            <a:ext cx="4069080" cy="749808"/>
          </a:xfrm>
          <a:prstGeom prst="rect">
            <a:avLst/>
          </a:prstGeom>
          <a:solidFill>
            <a:srgbClr val="FFF5F5"/>
          </a:solidFill>
          <a:ln w="6350">
            <a:solidFill>
              <a:srgbClr val="EF444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2920" y="3931920"/>
            <a:ext cx="3840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❌  "Here are 12 examples..." → poisons the signal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709160" y="3895344"/>
            <a:ext cx="4069080" cy="749808"/>
          </a:xfrm>
          <a:prstGeom prst="rect">
            <a:avLst/>
          </a:prstGeom>
          <a:solidFill>
            <a:srgbClr val="F0FFF4"/>
          </a:solidFill>
          <a:ln w="6350">
            <a:solidFill>
              <a:srgbClr val="10B98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46320" y="3931920"/>
            <a:ext cx="3840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✅  "Here are 3 diverse, canonical examples..." → clear pattern, no noise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5760" y="4800600"/>
            <a:ext cx="8412480" cy="256032"/>
          </a:xfrm>
          <a:prstGeom prst="rect">
            <a:avLst/>
          </a:prstGeom>
          <a:solidFill>
            <a:srgbClr val="EFF6FF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2920" y="480060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Pattern: Tell the model WHAT to do, not what NOT to do. Positive constraints always outperform negative ones.</a:t>
            </a:r>
            <a:endParaRPr lang="en-US" sz="11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Testing Methodology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914400"/>
            <a:ext cx="3566160" cy="1737360"/>
          </a:xfrm>
          <a:prstGeom prst="rect">
            <a:avLst/>
          </a:prstGeom>
          <a:solidFill>
            <a:srgbClr val="FFFFFF"/>
          </a:solidFill>
          <a:ln w="19050">
            <a:solidFill>
              <a:srgbClr val="00C2F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914400"/>
            <a:ext cx="3566160" cy="457200"/>
          </a:xfrm>
          <a:prstGeom prst="rect">
            <a:avLst/>
          </a:prstGeom>
          <a:solidFill>
            <a:srgbClr val="00C2FF"/>
          </a:solidFill>
          <a:ln w="12700">
            <a:solidFill>
              <a:srgbClr val="00C2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91440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WRITE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85800" y="1444752"/>
            <a:ext cx="3337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 using the 10-element template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029200" y="914400"/>
            <a:ext cx="3566160" cy="1737360"/>
          </a:xfrm>
          <a:prstGeom prst="rect">
            <a:avLst/>
          </a:prstGeom>
          <a:solidFill>
            <a:srgbClr val="FFFFFF"/>
          </a:solidFill>
          <a:ln w="19050">
            <a:solidFill>
              <a:srgbClr val="7B2FB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029200" y="914400"/>
            <a:ext cx="3566160" cy="457200"/>
          </a:xfrm>
          <a:prstGeom prst="rect">
            <a:avLst/>
          </a:prstGeom>
          <a:solidFill>
            <a:srgbClr val="7B2FBE"/>
          </a:solidFill>
          <a:ln w="12700">
            <a:solidFill>
              <a:srgbClr val="7B2FB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0" y="91440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EVALUATE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166360" y="1444752"/>
            <a:ext cx="3337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on 5–10 diverse inputs, note failures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029200" y="3108960"/>
            <a:ext cx="3566160" cy="1737360"/>
          </a:xfrm>
          <a:prstGeom prst="rect">
            <a:avLst/>
          </a:prstGeom>
          <a:solidFill>
            <a:srgbClr val="FFFFFF"/>
          </a:solidFill>
          <a:ln w="19050">
            <a:solidFill>
              <a:srgbClr val="F9731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029200" y="3108960"/>
            <a:ext cx="3566160" cy="45720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0" y="310896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IDENTIFY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5166360" y="3639312"/>
            <a:ext cx="3337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dimension failed? (Accuracy/Format/Tone/Safety)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3108960"/>
            <a:ext cx="3566160" cy="1737360"/>
          </a:xfrm>
          <a:prstGeom prst="rect">
            <a:avLst/>
          </a:prstGeom>
          <a:solidFill>
            <a:srgbClr val="FFFFFF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48640" y="3108960"/>
            <a:ext cx="3566160" cy="45720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8640" y="310896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REFINE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85800" y="3639312"/>
            <a:ext cx="3337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ONE thing. Retest. Never change multiple variables.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169664" y="1463040"/>
            <a:ext cx="777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64748B"/>
                </a:solidFill>
              </a:rPr>
              <a:t>→</a:t>
            </a:r>
            <a:endParaRPr lang="en-US" sz="3600" dirty="0"/>
          </a:p>
        </p:txBody>
      </p:sp>
      <p:sp>
        <p:nvSpPr>
          <p:cNvPr id="21" name="Text 19"/>
          <p:cNvSpPr/>
          <p:nvPr/>
        </p:nvSpPr>
        <p:spPr>
          <a:xfrm>
            <a:off x="5029200" y="269748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64748B"/>
                </a:solidFill>
              </a:rPr>
              <a:t>↓</a:t>
            </a:r>
            <a:endParaRPr lang="en-US" sz="2600" dirty="0"/>
          </a:p>
        </p:txBody>
      </p:sp>
      <p:sp>
        <p:nvSpPr>
          <p:cNvPr id="22" name="Text 20"/>
          <p:cNvSpPr/>
          <p:nvPr/>
        </p:nvSpPr>
        <p:spPr>
          <a:xfrm>
            <a:off x="4169664" y="3657600"/>
            <a:ext cx="777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64748B"/>
                </a:solidFill>
              </a:rPr>
              <a:t>←</a:t>
            </a:r>
            <a:endParaRPr lang="en-US" sz="3600" dirty="0"/>
          </a:p>
        </p:txBody>
      </p:sp>
      <p:sp>
        <p:nvSpPr>
          <p:cNvPr id="23" name="Text 21"/>
          <p:cNvSpPr/>
          <p:nvPr/>
        </p:nvSpPr>
        <p:spPr>
          <a:xfrm>
            <a:off x="548640" y="269748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64748B"/>
                </a:solidFill>
              </a:rPr>
              <a:t>↑</a:t>
            </a:r>
            <a:endParaRPr lang="en-US" sz="2600" dirty="0"/>
          </a:p>
        </p:txBody>
      </p:sp>
      <p:sp>
        <p:nvSpPr>
          <p:cNvPr id="24" name="Shape 22"/>
          <p:cNvSpPr/>
          <p:nvPr/>
        </p:nvSpPr>
        <p:spPr>
          <a:xfrm>
            <a:off x="3337560" y="2240280"/>
            <a:ext cx="2468880" cy="457200"/>
          </a:xfrm>
          <a:prstGeom prst="rect">
            <a:avLst/>
          </a:prstGeom>
          <a:solidFill>
            <a:srgbClr val="F0FFF4"/>
          </a:solidFill>
          <a:ln w="6350">
            <a:solidFill>
              <a:srgbClr val="10B98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337560" y="224028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 until score ≥ threshold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65760" y="4846320"/>
            <a:ext cx="8412480" cy="228600"/>
          </a:xfrm>
          <a:prstGeom prst="rect">
            <a:avLst/>
          </a:prstGeom>
          <a:solidFill>
            <a:srgbClr val="FAEEDA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02920" y="48463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Preview: On May 7 we automate this with Promptfoo — run all 4 steps across 3 models simultaneously.</a:t>
            </a:r>
            <a:endParaRPr lang="en-US" sz="11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182880"/>
            <a:ext cx="2011680" cy="365760"/>
          </a:xfrm>
          <a:prstGeom prst="roundRect">
            <a:avLst>
              <a:gd name="adj" fmla="val 15000"/>
            </a:avLst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0" y="18288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KARPATHY PRINCIPLE #7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48640" y="182880"/>
            <a:ext cx="6217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Success Verifiable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896112"/>
            <a:ext cx="8046720" cy="566928"/>
          </a:xfrm>
          <a:prstGeom prst="rect">
            <a:avLst/>
          </a:prstGeom>
          <a:solidFill>
            <a:srgbClr val="0F2040"/>
          </a:solidFill>
          <a:ln w="15240">
            <a:solidFill>
              <a:srgbClr val="00C2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896112"/>
            <a:ext cx="7680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"If you cannot verify it, </a:t>
            </a:r>
            <a:pPr indent="0" marL="0">
              <a:buNone/>
            </a:pPr>
            <a:r>
              <a:rPr lang="en-US" sz="1700" b="1" dirty="0">
                <a:solidFill>
                  <a:srgbClr val="00C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don't control it.</a:t>
            </a:r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  — Karpathy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548640" y="1572768"/>
            <a:ext cx="8046720" cy="384048"/>
          </a:xfrm>
          <a:prstGeom prst="rect">
            <a:avLst/>
          </a:prstGeom>
          <a:solidFill>
            <a:srgbClr val="0F204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1572768"/>
            <a:ext cx="3474720" cy="38404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Vague Goal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160520" y="1572768"/>
            <a:ext cx="365760" cy="38404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572000" y="1572768"/>
            <a:ext cx="3840480" cy="38404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Verifiable Prompt Criterion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48640" y="2029968"/>
            <a:ext cx="804672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2029968"/>
            <a:ext cx="3474720" cy="5943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Summarize this doc well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114800" y="2029968"/>
            <a:ext cx="365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4748B"/>
                </a:solidFill>
              </a:rPr>
              <a:t>→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526280" y="2029968"/>
            <a:ext cx="3931920" cy="5943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≤ 150 words, covers all 3 main arguments, no fabrications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548640" y="2688336"/>
            <a:ext cx="8046720" cy="59436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0080" y="2688336"/>
            <a:ext cx="3474720" cy="5943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good code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114800" y="2688336"/>
            <a:ext cx="365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4748B"/>
                </a:solidFill>
              </a:rPr>
              <a:t>→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4526280" y="2688336"/>
            <a:ext cx="3931920" cy="5943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Passes 5 unit tests, no unused imports, function &lt; 20 lines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548640" y="3346704"/>
            <a:ext cx="804672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0080" y="3346704"/>
            <a:ext cx="3474720" cy="5943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this clearly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114800" y="3346704"/>
            <a:ext cx="365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4748B"/>
                </a:solidFill>
              </a:rPr>
              <a:t>→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4526280" y="3346704"/>
            <a:ext cx="3931920" cy="5943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junior engineer reads it and can re-explain it back in 60 seconds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548640" y="4005072"/>
            <a:ext cx="8046720" cy="59436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0080" y="4005072"/>
            <a:ext cx="3474720" cy="5943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questions accurately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114800" y="4005072"/>
            <a:ext cx="365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4748B"/>
                </a:solidFill>
              </a:rPr>
              <a:t>→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4526280" y="4005072"/>
            <a:ext cx="3931920" cy="5943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Cites source inline, flags uncertainty explicitly, zero hallucinated names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548640" y="4663440"/>
            <a:ext cx="8046720" cy="384048"/>
          </a:xfrm>
          <a:prstGeom prst="rect">
            <a:avLst/>
          </a:prstGeom>
          <a:solidFill>
            <a:srgbClr val="10B981">
              <a:alpha val="85000"/>
            </a:srgbClr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85800" y="4663440"/>
            <a:ext cx="7863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 7: We encode these criteria as Promptfoo assertions — automated, repeatable, model-agnostic.</a:t>
            </a:r>
            <a:endParaRPr lang="en-US" sz="13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1A0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7B2FBE">
              <a:alpha val="8000"/>
            </a:srgbClr>
          </a:solidFill>
          <a:ln w="12700">
            <a:solidFill>
              <a:srgbClr val="7B2FBE">
                <a:alpha val="8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" y="45720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0" dirty="0">
                <a:solidFill>
                  <a:srgbClr val="000000"/>
                </a:solidFill>
              </a:rPr>
              <a:t>🔴</a:t>
            </a:r>
            <a:endParaRPr lang="en-US" sz="5000" dirty="0"/>
          </a:p>
        </p:txBody>
      </p:sp>
      <p:sp>
        <p:nvSpPr>
          <p:cNvPr id="5" name="Text 3"/>
          <p:cNvSpPr/>
          <p:nvPr/>
        </p:nvSpPr>
        <p:spPr>
          <a:xfrm>
            <a:off x="1920240" y="502920"/>
            <a:ext cx="6858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 4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1920240" y="1188720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OpenRouter — Same Prompt, 3 Models, Compare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914400" y="1874520"/>
            <a:ext cx="7772400" cy="2926080"/>
          </a:xfrm>
          <a:prstGeom prst="rect">
            <a:avLst/>
          </a:prstGeom>
          <a:solidFill>
            <a:srgbClr val="1A0020"/>
          </a:solidFill>
          <a:ln w="9525">
            <a:solidFill>
              <a:srgbClr val="A855F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97280" y="2029968"/>
            <a:ext cx="7406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Round 1 (GPT-4o-mini): 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Zero-shot: 'Explain what a transformer model does in 3 sentences for a non-technical CEO'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097280" y="2688336"/>
            <a:ext cx="7406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Round 2 (Claude 3.5 Haiku): 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prompt — compare language quality, length, tone, accuracy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097280" y="3346704"/>
            <a:ext cx="7406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Round 3 (Gemini 1.5 Flash): 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prompt — compare. Then add system prompt + few-shot and re-run all 3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097280" y="4005072"/>
            <a:ext cx="7406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Vote (Class Discussion): 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was best? WHY? Define criteria — accuracy / clarity / tone / format compliance</a:t>
            </a:r>
            <a:endParaRPr lang="en-US" sz="12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828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 Mastered Today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914400"/>
            <a:ext cx="4023360" cy="960120"/>
          </a:xfrm>
          <a:prstGeom prst="rect">
            <a:avLst/>
          </a:prstGeom>
          <a:solidFill>
            <a:srgbClr val="0F2040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914400"/>
            <a:ext cx="73152" cy="96012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49808" y="987552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Intern Model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49808" y="1325880"/>
            <a:ext cx="3657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0C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LLMs = smart interns. Constrain → Guide → Verify. Never assume.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4846320" y="914400"/>
            <a:ext cx="4023360" cy="960120"/>
          </a:xfrm>
          <a:prstGeom prst="rect">
            <a:avLst/>
          </a:prstGeom>
          <a:solidFill>
            <a:srgbClr val="0F2040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846320" y="914400"/>
            <a:ext cx="73152" cy="960120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47488" y="987552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7 Primitives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047488" y="1325880"/>
            <a:ext cx="3657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0C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Zero-shot → Few-shot → CoT → Chaining → RAG → ReAct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548640" y="1984248"/>
            <a:ext cx="4023360" cy="960120"/>
          </a:xfrm>
          <a:prstGeom prst="rect">
            <a:avLst/>
          </a:prstGeom>
          <a:solidFill>
            <a:srgbClr val="0F2040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48640" y="1984248"/>
            <a:ext cx="73152" cy="96012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49808" y="20574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Assume Wrong by Default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749808" y="2395728"/>
            <a:ext cx="3657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0C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Hallucinated APIs, silent errors, fake citations — always verify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4846320" y="1984248"/>
            <a:ext cx="4023360" cy="960120"/>
          </a:xfrm>
          <a:prstGeom prst="rect">
            <a:avLst/>
          </a:prstGeom>
          <a:solidFill>
            <a:srgbClr val="0F2040"/>
          </a:solidFill>
          <a:ln w="12700">
            <a:solidFill>
              <a:srgbClr val="00C2F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846320" y="1984248"/>
            <a:ext cx="73152" cy="960120"/>
          </a:xfrm>
          <a:prstGeom prst="rect">
            <a:avLst/>
          </a:prstGeom>
          <a:solidFill>
            <a:srgbClr val="00C2FF"/>
          </a:solidFill>
          <a:ln w="12700">
            <a:solidFill>
              <a:srgbClr val="00C2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47488" y="20574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C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Curate, Don't Dump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047488" y="2395728"/>
            <a:ext cx="3657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0C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signal-to-noise. Only what's needed. Fight overengineering.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548640" y="3054096"/>
            <a:ext cx="4023360" cy="960120"/>
          </a:xfrm>
          <a:prstGeom prst="rect">
            <a:avLst/>
          </a:prstGeom>
          <a:solidFill>
            <a:srgbClr val="0F2040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48640" y="3054096"/>
            <a:ext cx="73152" cy="96012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49808" y="3127248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Harness = The Product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749808" y="3465576"/>
            <a:ext cx="3657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0C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prompt + rules + examples = production AI feature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4846320" y="3054096"/>
            <a:ext cx="4023360" cy="960120"/>
          </a:xfrm>
          <a:prstGeom prst="rect">
            <a:avLst/>
          </a:prstGeom>
          <a:solidFill>
            <a:srgbClr val="0F2040"/>
          </a:solidFill>
          <a:ln w="12700">
            <a:solidFill>
              <a:srgbClr val="00C2F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846320" y="3054096"/>
            <a:ext cx="73152" cy="960120"/>
          </a:xfrm>
          <a:prstGeom prst="rect">
            <a:avLst/>
          </a:prstGeom>
          <a:solidFill>
            <a:srgbClr val="00C2FF"/>
          </a:solidFill>
          <a:ln w="12700">
            <a:solidFill>
              <a:srgbClr val="00C2F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047488" y="3127248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C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Make It Verifiable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5047488" y="3465576"/>
            <a:ext cx="3657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0C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Vague goal → testable criterion. If you can't verify, you don't control.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548640" y="4187952"/>
            <a:ext cx="8046720" cy="640080"/>
          </a:xfrm>
          <a:prstGeom prst="rect">
            <a:avLst/>
          </a:prstGeom>
          <a:solidFill>
            <a:srgbClr val="00C2FF">
              <a:alpha val="85000"/>
            </a:srgbClr>
          </a:solidFill>
          <a:ln w="12700">
            <a:solidFill>
              <a:srgbClr val="00C2F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48640" y="4187952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 7 →  Build 10-prompt library  ·  Promptfoo A/B testing  ·  MECE decomposition  ·  Prompt Security</a:t>
            </a:r>
            <a:endParaRPr lang="en-US" sz="13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Resources &amp; Homework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804672"/>
            <a:ext cx="841248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804672"/>
            <a:ext cx="73152" cy="457200"/>
          </a:xfrm>
          <a:prstGeom prst="rect">
            <a:avLst/>
          </a:prstGeom>
          <a:solidFill>
            <a:srgbClr val="00C2FF"/>
          </a:solidFill>
          <a:ln w="12700">
            <a:solidFill>
              <a:srgbClr val="00C2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804672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C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Book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2468880" y="804672"/>
            <a:ext cx="6217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Practical Prompt &amp; Context Engineering — Sumit Ranjan (Apress/Springer, 2026)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65760" y="1325880"/>
            <a:ext cx="841248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65760" y="1325880"/>
            <a:ext cx="73152" cy="457200"/>
          </a:xfrm>
          <a:prstGeom prst="rect">
            <a:avLst/>
          </a:prstGeom>
          <a:solidFill>
            <a:srgbClr val="7B2FBE"/>
          </a:solidFill>
          <a:ln w="12700">
            <a:solidFill>
              <a:srgbClr val="7B2FB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66928" y="132588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B2F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LearnPrompting.org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468880" y="1325880"/>
            <a:ext cx="6217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Sander Schulhoff — free, comprehensive, research-backed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65760" y="1847088"/>
            <a:ext cx="841248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5760" y="1847088"/>
            <a:ext cx="73152" cy="45720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66928" y="1847088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Anthropic Docs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468880" y="1847088"/>
            <a:ext cx="6217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docs.anthropic.com — official prompt engineering guide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65760" y="2368296"/>
            <a:ext cx="841248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65760" y="2368296"/>
            <a:ext cx="73152" cy="45720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66928" y="2368296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PromptingGuide.ai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2468880" y="2368296"/>
            <a:ext cx="6217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DAIR.AI — academic + practitioner reference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365760" y="2889504"/>
            <a:ext cx="841248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65760" y="2889504"/>
            <a:ext cx="73152" cy="457200"/>
          </a:xfrm>
          <a:prstGeom prst="rect">
            <a:avLst/>
          </a:prstGeom>
          <a:solidFill>
            <a:srgbClr val="00C2FF"/>
          </a:solidFill>
          <a:ln w="12700">
            <a:solidFill>
              <a:srgbClr val="00C2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66928" y="2889504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C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OpenRouter.ai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2468880" y="2889504"/>
            <a:ext cx="6217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tier — access GPT-4o-mini, Claude, Gemini in one API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365760" y="3520440"/>
            <a:ext cx="8412480" cy="1417320"/>
          </a:xfrm>
          <a:prstGeom prst="rect">
            <a:avLst/>
          </a:prstGeom>
          <a:solidFill>
            <a:srgbClr val="0A1628"/>
          </a:solidFill>
          <a:ln w="15240">
            <a:solidFill>
              <a:srgbClr val="00C2F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94360" y="3611880"/>
            <a:ext cx="8046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C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 Homework — Due Before 07 May (30 min max)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594360" y="4005072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Pick one task from your real work. Write a zero-shot prompt. Improve it to few-shot (3 examples).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594360" y="4279392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Design a system prompt for a personal AI assistant. Test it against 5 questions. Try to break it.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594360" y="4553712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Note what FAILED and why — bring these to May 7. We'll use them to build your evaluation rubric.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365760" y="4983480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Bring failures, not successes. The best learning is in what broke.</a:t>
            </a:r>
            <a:endParaRPr lang="en-US" sz="12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C2FF">
              <a:alpha val="5000"/>
            </a:srgbClr>
          </a:solidFill>
          <a:ln w="12700">
            <a:solidFill>
              <a:srgbClr val="00C2FF">
                <a:alpha val="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943600" y="2286000"/>
            <a:ext cx="4572000" cy="4572000"/>
          </a:xfrm>
          <a:prstGeom prst="ellipse">
            <a:avLst/>
          </a:prstGeom>
          <a:solidFill>
            <a:srgbClr val="00C2FF">
              <a:alpha val="10000"/>
            </a:srgbClr>
          </a:solidFill>
          <a:ln w="12700">
            <a:solidFill>
              <a:srgbClr val="00C2FF">
                <a:alpha val="1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182880" cy="5143500"/>
          </a:xfrm>
          <a:prstGeom prst="rect">
            <a:avLst/>
          </a:prstGeom>
          <a:solidFill>
            <a:srgbClr val="00C2FF"/>
          </a:solidFill>
          <a:ln w="12700">
            <a:solidFill>
              <a:srgbClr val="00C2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91440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Questions?</a:t>
            </a:r>
            <a:endParaRPr lang="en-US" sz="5600" dirty="0"/>
          </a:p>
        </p:txBody>
      </p:sp>
      <p:sp>
        <p:nvSpPr>
          <p:cNvPr id="6" name="Text 4"/>
          <p:cNvSpPr/>
          <p:nvPr/>
        </p:nvSpPr>
        <p:spPr>
          <a:xfrm>
            <a:off x="457200" y="20116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00C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"The only bad prompt is the one you didn't test."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2560320" y="2834640"/>
            <a:ext cx="4023360" cy="22860"/>
          </a:xfrm>
          <a:prstGeom prst="rect">
            <a:avLst/>
          </a:prstGeom>
          <a:solidFill>
            <a:srgbClr val="00C2FF"/>
          </a:solidFill>
          <a:ln w="12700">
            <a:solidFill>
              <a:srgbClr val="00C2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306324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Sumit Ranjan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57200" y="352044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BA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 of Responsible AI  ·  OWASP Agentic AI Top 10  ·  BITS Pilani Dubai  ·  Apress/Packt Author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7200" y="406908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C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Next: 07 May — Prompt Library Build &amp; Promptfoo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28</Slides>
  <Notes>28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Prompt Engineering: Patterns &amp; Testing — FDE Academy Batch 1 — 05 May 2026</dc:title>
  <dc:subject>PptxGenJS Presentation</dc:subject>
  <dc:creator>Sumit Ranjan</dc:creator>
  <cp:lastModifiedBy>Sumit Ranjan</cp:lastModifiedBy>
  <cp:revision>1</cp:revision>
  <dcterms:created xsi:type="dcterms:W3CDTF">2026-05-02T08:59:18Z</dcterms:created>
  <dcterms:modified xsi:type="dcterms:W3CDTF">2026-05-02T08:59:18Z</dcterms:modified>
</cp:coreProperties>
</file>